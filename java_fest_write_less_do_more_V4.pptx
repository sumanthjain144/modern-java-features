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5" r:id="rId1"/>
  </p:sldMasterIdLst>
  <p:notesMasterIdLst>
    <p:notesMasterId r:id="rId38"/>
  </p:notesMasterIdLst>
  <p:handoutMasterIdLst>
    <p:handoutMasterId r:id="rId39"/>
  </p:handoutMasterIdLst>
  <p:sldIdLst>
    <p:sldId id="256" r:id="rId2"/>
    <p:sldId id="301" r:id="rId3"/>
    <p:sldId id="300" r:id="rId4"/>
    <p:sldId id="257" r:id="rId5"/>
    <p:sldId id="263" r:id="rId6"/>
    <p:sldId id="262" r:id="rId7"/>
    <p:sldId id="267" r:id="rId8"/>
    <p:sldId id="303" r:id="rId9"/>
    <p:sldId id="259" r:id="rId10"/>
    <p:sldId id="304" r:id="rId11"/>
    <p:sldId id="305" r:id="rId12"/>
    <p:sldId id="306" r:id="rId13"/>
    <p:sldId id="307" r:id="rId14"/>
    <p:sldId id="308" r:id="rId15"/>
    <p:sldId id="266" r:id="rId16"/>
    <p:sldId id="261" r:id="rId17"/>
    <p:sldId id="260" r:id="rId18"/>
    <p:sldId id="309" r:id="rId19"/>
    <p:sldId id="310" r:id="rId20"/>
    <p:sldId id="311" r:id="rId21"/>
    <p:sldId id="312" r:id="rId22"/>
    <p:sldId id="314" r:id="rId23"/>
    <p:sldId id="265" r:id="rId24"/>
    <p:sldId id="324" r:id="rId25"/>
    <p:sldId id="287" r:id="rId26"/>
    <p:sldId id="288" r:id="rId27"/>
    <p:sldId id="315" r:id="rId28"/>
    <p:sldId id="316" r:id="rId29"/>
    <p:sldId id="317" r:id="rId30"/>
    <p:sldId id="318" r:id="rId31"/>
    <p:sldId id="319" r:id="rId32"/>
    <p:sldId id="320" r:id="rId33"/>
    <p:sldId id="321" r:id="rId34"/>
    <p:sldId id="322" r:id="rId35"/>
    <p:sldId id="323" r:id="rId36"/>
    <p:sldId id="269"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35"/>
    <p:restoredTop sz="94737"/>
  </p:normalViewPr>
  <p:slideViewPr>
    <p:cSldViewPr snapToGrid="0">
      <p:cViewPr varScale="1">
        <p:scale>
          <a:sx n="115" d="100"/>
          <a:sy n="115" d="100"/>
        </p:scale>
        <p:origin x="552" y="208"/>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6D6D47-9D8D-4DDC-B474-C26A776C1E5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BAC0952F-2A02-4CA1-832A-0E50E8C4164B}">
      <dgm:prSet/>
      <dgm:spPr/>
      <dgm:t>
        <a:bodyPr/>
        <a:lstStyle/>
        <a:p>
          <a:r>
            <a:rPr lang="en-IN" b="1" dirty="0"/>
            <a:t>Support gradual transition from small to larger projects:</a:t>
          </a:r>
          <a:r>
            <a:rPr lang="en-IN" dirty="0"/>
            <a:t> Previously, only single-file source programs could be run directly. Extending this to multiple files allows developers to start small and scale up without the immediate need for configuring build tools or complex project structures.</a:t>
          </a:r>
          <a:endParaRPr lang="en-US" dirty="0"/>
        </a:p>
      </dgm:t>
    </dgm:pt>
    <dgm:pt modelId="{E5A15D64-362F-43A9-A799-7F24AA2FC967}" type="parTrans" cxnId="{AF850C62-86F3-4E2C-BB78-F5F8E933D564}">
      <dgm:prSet/>
      <dgm:spPr/>
      <dgm:t>
        <a:bodyPr/>
        <a:lstStyle/>
        <a:p>
          <a:endParaRPr lang="en-US"/>
        </a:p>
      </dgm:t>
    </dgm:pt>
    <dgm:pt modelId="{2EE9BA29-4656-460B-8D8D-C2DFFDE71CD7}" type="sibTrans" cxnId="{AF850C62-86F3-4E2C-BB78-F5F8E933D564}">
      <dgm:prSet/>
      <dgm:spPr/>
      <dgm:t>
        <a:bodyPr/>
        <a:lstStyle/>
        <a:p>
          <a:endParaRPr lang="en-US"/>
        </a:p>
      </dgm:t>
    </dgm:pt>
    <dgm:pt modelId="{660CF5CD-28EC-4F1F-AC74-2F49AA6B7D09}">
      <dgm:prSet/>
      <dgm:spPr/>
      <dgm:t>
        <a:bodyPr/>
        <a:lstStyle/>
        <a:p>
          <a:r>
            <a:rPr lang="en-IN" b="1"/>
            <a:t>Facilitate fast iteration and exploration:</a:t>
          </a:r>
          <a:r>
            <a:rPr lang="en-IN"/>
            <a:t> Early development is often experimental and fluid, with frequent changes. By enabling in-memory compilation of all referenced source files on the fly, developers can quickly test and modify code without manual compilation steps.</a:t>
          </a:r>
          <a:endParaRPr lang="en-US"/>
        </a:p>
      </dgm:t>
    </dgm:pt>
    <dgm:pt modelId="{DE4B1DC2-2721-4E08-B87B-52601FEA87E8}" type="parTrans" cxnId="{827E6BBA-3D86-4A1E-AC3B-F5A2E7E5E354}">
      <dgm:prSet/>
      <dgm:spPr/>
      <dgm:t>
        <a:bodyPr/>
        <a:lstStyle/>
        <a:p>
          <a:endParaRPr lang="en-US"/>
        </a:p>
      </dgm:t>
    </dgm:pt>
    <dgm:pt modelId="{729A58DE-5469-4606-8F8E-8CBF427B380B}" type="sibTrans" cxnId="{827E6BBA-3D86-4A1E-AC3B-F5A2E7E5E354}">
      <dgm:prSet/>
      <dgm:spPr/>
      <dgm:t>
        <a:bodyPr/>
        <a:lstStyle/>
        <a:p>
          <a:endParaRPr lang="en-US"/>
        </a:p>
      </dgm:t>
    </dgm:pt>
    <dgm:pt modelId="{A998BFA1-1EE8-3044-AE3E-1450419BA02C}" type="pres">
      <dgm:prSet presAssocID="{216D6D47-9D8D-4DDC-B474-C26A776C1E52}" presName="linear" presStyleCnt="0">
        <dgm:presLayoutVars>
          <dgm:animLvl val="lvl"/>
          <dgm:resizeHandles val="exact"/>
        </dgm:presLayoutVars>
      </dgm:prSet>
      <dgm:spPr/>
    </dgm:pt>
    <dgm:pt modelId="{9F68C168-C417-0B46-AF89-FB411A0D150E}" type="pres">
      <dgm:prSet presAssocID="{BAC0952F-2A02-4CA1-832A-0E50E8C4164B}" presName="parentText" presStyleLbl="node1" presStyleIdx="0" presStyleCnt="2">
        <dgm:presLayoutVars>
          <dgm:chMax val="0"/>
          <dgm:bulletEnabled val="1"/>
        </dgm:presLayoutVars>
      </dgm:prSet>
      <dgm:spPr/>
    </dgm:pt>
    <dgm:pt modelId="{8924984A-DDD1-124A-B440-930BBCEBE306}" type="pres">
      <dgm:prSet presAssocID="{2EE9BA29-4656-460B-8D8D-C2DFFDE71CD7}" presName="spacer" presStyleCnt="0"/>
      <dgm:spPr/>
    </dgm:pt>
    <dgm:pt modelId="{B2934816-EC5D-0E46-93A7-EC892B0F2D90}" type="pres">
      <dgm:prSet presAssocID="{660CF5CD-28EC-4F1F-AC74-2F49AA6B7D09}" presName="parentText" presStyleLbl="node1" presStyleIdx="1" presStyleCnt="2">
        <dgm:presLayoutVars>
          <dgm:chMax val="0"/>
          <dgm:bulletEnabled val="1"/>
        </dgm:presLayoutVars>
      </dgm:prSet>
      <dgm:spPr/>
    </dgm:pt>
  </dgm:ptLst>
  <dgm:cxnLst>
    <dgm:cxn modelId="{22E3281D-DC0C-6F42-B36B-939C859CD365}" type="presOf" srcId="{660CF5CD-28EC-4F1F-AC74-2F49AA6B7D09}" destId="{B2934816-EC5D-0E46-93A7-EC892B0F2D90}" srcOrd="0" destOrd="0" presId="urn:microsoft.com/office/officeart/2005/8/layout/vList2"/>
    <dgm:cxn modelId="{AF850C62-86F3-4E2C-BB78-F5F8E933D564}" srcId="{216D6D47-9D8D-4DDC-B474-C26A776C1E52}" destId="{BAC0952F-2A02-4CA1-832A-0E50E8C4164B}" srcOrd="0" destOrd="0" parTransId="{E5A15D64-362F-43A9-A799-7F24AA2FC967}" sibTransId="{2EE9BA29-4656-460B-8D8D-C2DFFDE71CD7}"/>
    <dgm:cxn modelId="{8817488C-4DA6-6A4E-8FCB-99EC14480385}" type="presOf" srcId="{BAC0952F-2A02-4CA1-832A-0E50E8C4164B}" destId="{9F68C168-C417-0B46-AF89-FB411A0D150E}" srcOrd="0" destOrd="0" presId="urn:microsoft.com/office/officeart/2005/8/layout/vList2"/>
    <dgm:cxn modelId="{18D4EDAD-21E9-484E-AC60-C2CB984AACC2}" type="presOf" srcId="{216D6D47-9D8D-4DDC-B474-C26A776C1E52}" destId="{A998BFA1-1EE8-3044-AE3E-1450419BA02C}" srcOrd="0" destOrd="0" presId="urn:microsoft.com/office/officeart/2005/8/layout/vList2"/>
    <dgm:cxn modelId="{827E6BBA-3D86-4A1E-AC3B-F5A2E7E5E354}" srcId="{216D6D47-9D8D-4DDC-B474-C26A776C1E52}" destId="{660CF5CD-28EC-4F1F-AC74-2F49AA6B7D09}" srcOrd="1" destOrd="0" parTransId="{DE4B1DC2-2721-4E08-B87B-52601FEA87E8}" sibTransId="{729A58DE-5469-4606-8F8E-8CBF427B380B}"/>
    <dgm:cxn modelId="{77FF2E0C-348B-CE4D-BD35-E3B21A1E59F1}" type="presParOf" srcId="{A998BFA1-1EE8-3044-AE3E-1450419BA02C}" destId="{9F68C168-C417-0B46-AF89-FB411A0D150E}" srcOrd="0" destOrd="0" presId="urn:microsoft.com/office/officeart/2005/8/layout/vList2"/>
    <dgm:cxn modelId="{DAB30681-C6AD-7B4D-A28B-AB9E989FBB37}" type="presParOf" srcId="{A998BFA1-1EE8-3044-AE3E-1450419BA02C}" destId="{8924984A-DDD1-124A-B440-930BBCEBE306}" srcOrd="1" destOrd="0" presId="urn:microsoft.com/office/officeart/2005/8/layout/vList2"/>
    <dgm:cxn modelId="{3A7CA2BD-A2A6-394D-8E3C-2B574F13B3ED}" type="presParOf" srcId="{A998BFA1-1EE8-3044-AE3E-1450419BA02C}" destId="{B2934816-EC5D-0E46-93A7-EC892B0F2D90}"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68C168-C417-0B46-AF89-FB411A0D150E}">
      <dsp:nvSpPr>
        <dsp:cNvPr id="0" name=""/>
        <dsp:cNvSpPr/>
      </dsp:nvSpPr>
      <dsp:spPr>
        <a:xfrm>
          <a:off x="0" y="55009"/>
          <a:ext cx="10058399" cy="19375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IN" sz="2300" b="1" kern="1200" dirty="0"/>
            <a:t>Support gradual transition from small to larger projects:</a:t>
          </a:r>
          <a:r>
            <a:rPr lang="en-IN" sz="2300" kern="1200" dirty="0"/>
            <a:t> Previously, only single-file source programs could be run directly. Extending this to multiple files allows developers to start small and scale up without the immediate need for configuring build tools or complex project structures.</a:t>
          </a:r>
          <a:endParaRPr lang="en-US" sz="2300" kern="1200" dirty="0"/>
        </a:p>
      </dsp:txBody>
      <dsp:txXfrm>
        <a:off x="94582" y="149591"/>
        <a:ext cx="9869235" cy="1748356"/>
      </dsp:txXfrm>
    </dsp:sp>
    <dsp:sp modelId="{B2934816-EC5D-0E46-93A7-EC892B0F2D90}">
      <dsp:nvSpPr>
        <dsp:cNvPr id="0" name=""/>
        <dsp:cNvSpPr/>
      </dsp:nvSpPr>
      <dsp:spPr>
        <a:xfrm>
          <a:off x="0" y="2058770"/>
          <a:ext cx="10058399" cy="1937520"/>
        </a:xfrm>
        <a:prstGeom prst="roundRect">
          <a:avLst/>
        </a:prstGeom>
        <a:solidFill>
          <a:schemeClr val="accent2">
            <a:hueOff val="1907789"/>
            <a:satOff val="-43528"/>
            <a:lumOff val="1607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IN" sz="2300" b="1" kern="1200"/>
            <a:t>Facilitate fast iteration and exploration:</a:t>
          </a:r>
          <a:r>
            <a:rPr lang="en-IN" sz="2300" kern="1200"/>
            <a:t> Early development is often experimental and fluid, with frequent changes. By enabling in-memory compilation of all referenced source files on the fly, developers can quickly test and modify code without manual compilation steps.</a:t>
          </a:r>
          <a:endParaRPr lang="en-US" sz="2300" kern="1200"/>
        </a:p>
      </dsp:txBody>
      <dsp:txXfrm>
        <a:off x="94582" y="2153352"/>
        <a:ext cx="9869235" cy="174835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98C9D7B-A86F-8BED-D936-E001264C8E8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CC1E598-D1F9-27E1-21BF-8F11E222EAB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3190787-CB04-0347-A85D-460D2188009B}" type="datetimeFigureOut">
              <a:rPr lang="en-US" smtClean="0"/>
              <a:t>4/30/26</a:t>
            </a:fld>
            <a:endParaRPr lang="en-US"/>
          </a:p>
        </p:txBody>
      </p:sp>
      <p:sp>
        <p:nvSpPr>
          <p:cNvPr id="4" name="Footer Placeholder 3">
            <a:extLst>
              <a:ext uri="{FF2B5EF4-FFF2-40B4-BE49-F238E27FC236}">
                <a16:creationId xmlns:a16="http://schemas.microsoft.com/office/drawing/2014/main" id="{E3530599-EEF4-2576-8F7A-D631A676AAF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A759F4B-E5A0-5C3E-16C6-31C56354D22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34FA63-8166-654F-9625-01845DC5ED97}" type="slidenum">
              <a:rPr lang="en-US" smtClean="0"/>
              <a:t>‹#›</a:t>
            </a:fld>
            <a:endParaRPr lang="en-US"/>
          </a:p>
        </p:txBody>
      </p:sp>
    </p:spTree>
    <p:extLst>
      <p:ext uri="{BB962C8B-B14F-4D97-AF65-F5344CB8AC3E}">
        <p14:creationId xmlns:p14="http://schemas.microsoft.com/office/powerpoint/2010/main" val="6275245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9A07F6-6AD1-0944-9656-C54FCCBBFED4}" type="datetimeFigureOut">
              <a:rPr lang="en-US" smtClean="0"/>
              <a:t>4/30/26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47F3FC-05EE-A647-A178-D0FA4C67162C}" type="slidenum">
              <a:rPr lang="en-US" smtClean="0"/>
              <a:t>‹#›</a:t>
            </a:fld>
            <a:endParaRPr lang="en-US"/>
          </a:p>
        </p:txBody>
      </p:sp>
    </p:spTree>
    <p:extLst>
      <p:ext uri="{BB962C8B-B14F-4D97-AF65-F5344CB8AC3E}">
        <p14:creationId xmlns:p14="http://schemas.microsoft.com/office/powerpoint/2010/main" val="117315714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GB"/>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64B6F99C-7B95-3F43-AC85-9061BF30A333}" type="datetime1">
              <a:rPr lang="en-IN" smtClean="0"/>
              <a:t>30/04/26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25357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0D871E9-C49F-9C49-A5E9-164E53ACFBD4}" type="datetime1">
              <a:rPr lang="en-IN" smtClean="0"/>
              <a:t>30/04/26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75780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GB"/>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89F064CC-BC8D-3446-BF9F-408A9A36190C}" type="datetime1">
              <a:rPr lang="en-IN" smtClean="0"/>
              <a:t>30/04/26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8315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F684D912-81FE-4E40-988F-80AE4276BAB2}" type="datetime1">
              <a:rPr lang="en-IN" smtClean="0"/>
              <a:t>30/04/26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36007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6DE384DB-5AD5-2040-B0CF-DEE828170991}" type="datetime1">
              <a:rPr lang="en-IN" smtClean="0"/>
              <a:t>30/04/26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2559122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61B86E2-044E-0941-B44F-62E999B72718}" type="datetime1">
              <a:rPr lang="en-IN" smtClean="0"/>
              <a:t>30/04/26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6" name="Title 5"/>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220378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1744CE-C6C0-4A4C-B9AB-8909C8DC0654}" type="datetime1">
              <a:rPr lang="en-IN" smtClean="0"/>
              <a:t>30/04/26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64717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GB"/>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14A0D43-017B-EC40-A8E2-0A4E3BFE10C7}" type="datetime1">
              <a:rPr lang="en-IN" smtClean="0"/>
              <a:t>30/04/26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81753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GB"/>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C5368F54-CA41-1B44-AEF6-4A12E1D82605}" type="datetime1">
              <a:rPr lang="en-IN" smtClean="0"/>
              <a:t>30/04/26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96361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7290003-96A2-1842-9754-9F5A53717D6F}" type="datetime1">
              <a:rPr lang="en-IN" smtClean="0"/>
              <a:t>30/04/26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73625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1B932C5-3212-CE42-8275-B252C1798DEE}" type="datetime1">
              <a:rPr lang="en-IN" smtClean="0"/>
              <a:t>30/04/26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81524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D234AE-F07E-4142-AB55-82149247CC71}" type="datetime1">
              <a:rPr lang="en-IN" smtClean="0"/>
              <a:t>30/04/26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56951574"/>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ithub.com/SumanthJain144/modern-java-feature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4791F-218A-BB0F-3962-C06FF70F1A90}"/>
              </a:ext>
            </a:extLst>
          </p:cNvPr>
          <p:cNvSpPr>
            <a:spLocks noGrp="1"/>
          </p:cNvSpPr>
          <p:nvPr>
            <p:ph type="ctrTitle"/>
          </p:nvPr>
        </p:nvSpPr>
        <p:spPr/>
        <p:txBody>
          <a:bodyPr>
            <a:normAutofit/>
          </a:bodyPr>
          <a:lstStyle/>
          <a:p>
            <a:r>
              <a:rPr lang="en-IN" sz="8000" b="1" dirty="0"/>
              <a:t>Write Less, Do More</a:t>
            </a:r>
            <a:endParaRPr lang="en-US" sz="8000" dirty="0"/>
          </a:p>
        </p:txBody>
      </p:sp>
      <p:sp>
        <p:nvSpPr>
          <p:cNvPr id="3" name="Subtitle 2">
            <a:extLst>
              <a:ext uri="{FF2B5EF4-FFF2-40B4-BE49-F238E27FC236}">
                <a16:creationId xmlns:a16="http://schemas.microsoft.com/office/drawing/2014/main" id="{3DD3621C-AD59-4A17-A064-F46BA770C05C}"/>
              </a:ext>
            </a:extLst>
          </p:cNvPr>
          <p:cNvSpPr>
            <a:spLocks noGrp="1"/>
          </p:cNvSpPr>
          <p:nvPr>
            <p:ph type="subTitle" idx="1"/>
          </p:nvPr>
        </p:nvSpPr>
        <p:spPr/>
        <p:txBody>
          <a:bodyPr>
            <a:normAutofit fontScale="70000" lnSpcReduction="20000"/>
          </a:bodyPr>
          <a:lstStyle/>
          <a:p>
            <a:r>
              <a:rPr lang="en-IN" sz="4000" b="1" dirty="0"/>
              <a:t>The power of modern Java</a:t>
            </a:r>
          </a:p>
          <a:p>
            <a:endParaRPr lang="en-IN" sz="2400" b="1" dirty="0"/>
          </a:p>
          <a:p>
            <a:r>
              <a:rPr lang="en-IN" sz="2400" b="1" dirty="0"/>
              <a:t>				</a:t>
            </a:r>
            <a:endParaRPr lang="en-US" sz="2400" dirty="0"/>
          </a:p>
        </p:txBody>
      </p:sp>
      <p:sp>
        <p:nvSpPr>
          <p:cNvPr id="4" name="Slide Number Placeholder 3">
            <a:extLst>
              <a:ext uri="{FF2B5EF4-FFF2-40B4-BE49-F238E27FC236}">
                <a16:creationId xmlns:a16="http://schemas.microsoft.com/office/drawing/2014/main" id="{9A301C59-FDF4-BEDE-F489-68EB5BF94D9B}"/>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3836857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4F314-ADF2-F18A-2175-AAFA19E7AD8F}"/>
              </a:ext>
            </a:extLst>
          </p:cNvPr>
          <p:cNvSpPr>
            <a:spLocks noGrp="1"/>
          </p:cNvSpPr>
          <p:nvPr>
            <p:ph type="title"/>
          </p:nvPr>
        </p:nvSpPr>
        <p:spPr/>
        <p:txBody>
          <a:bodyPr/>
          <a:lstStyle/>
          <a:p>
            <a:r>
              <a:rPr lang="en-US" dirty="0"/>
              <a:t>TOPICS</a:t>
            </a:r>
          </a:p>
        </p:txBody>
      </p:sp>
      <p:sp>
        <p:nvSpPr>
          <p:cNvPr id="3" name="Content Placeholder 2">
            <a:extLst>
              <a:ext uri="{FF2B5EF4-FFF2-40B4-BE49-F238E27FC236}">
                <a16:creationId xmlns:a16="http://schemas.microsoft.com/office/drawing/2014/main" id="{05528622-7A26-1553-7F5C-1742A0B4820C}"/>
              </a:ext>
            </a:extLst>
          </p:cNvPr>
          <p:cNvSpPr>
            <a:spLocks noGrp="1"/>
          </p:cNvSpPr>
          <p:nvPr>
            <p:ph idx="1"/>
          </p:nvPr>
        </p:nvSpPr>
        <p:spPr>
          <a:xfrm>
            <a:off x="1069849" y="1783644"/>
            <a:ext cx="4897858" cy="4589724"/>
          </a:xfrm>
        </p:spPr>
        <p:txBody>
          <a:bodyPr>
            <a:noAutofit/>
          </a:bodyPr>
          <a:lstStyle/>
          <a:p>
            <a:r>
              <a:rPr lang="en-IN" sz="1800" dirty="0"/>
              <a:t>var – Local Variable Type Inference </a:t>
            </a:r>
          </a:p>
          <a:p>
            <a:r>
              <a:rPr lang="en-IN" sz="1800" dirty="0"/>
              <a:t>New String Methods</a:t>
            </a:r>
          </a:p>
          <a:p>
            <a:r>
              <a:rPr lang="en-IN" sz="1800" dirty="0"/>
              <a:t>Compact number formatting</a:t>
            </a:r>
          </a:p>
          <a:p>
            <a:r>
              <a:rPr lang="en-IN" sz="1800" dirty="0"/>
              <a:t>Text blocks</a:t>
            </a:r>
          </a:p>
          <a:p>
            <a:r>
              <a:rPr lang="en-IN" sz="1800" dirty="0"/>
              <a:t>Records</a:t>
            </a:r>
          </a:p>
          <a:p>
            <a:r>
              <a:rPr lang="en-IN" sz="1800" dirty="0"/>
              <a:t>Pattern matching</a:t>
            </a:r>
          </a:p>
          <a:p>
            <a:r>
              <a:rPr lang="en-IN" sz="1800" dirty="0"/>
              <a:t>Pattern matching with </a:t>
            </a:r>
            <a:r>
              <a:rPr lang="en-IN" sz="1800" dirty="0" err="1"/>
              <a:t>instanceof</a:t>
            </a:r>
            <a:r>
              <a:rPr lang="en-IN" sz="1800" dirty="0"/>
              <a:t> operator</a:t>
            </a:r>
          </a:p>
          <a:p>
            <a:r>
              <a:rPr lang="en-IN" sz="1800" dirty="0"/>
              <a:t>Pattern matching with primitive data types</a:t>
            </a:r>
          </a:p>
          <a:p>
            <a:r>
              <a:rPr lang="en-IN" sz="1800" dirty="0"/>
              <a:t>Pattern matching with records</a:t>
            </a:r>
          </a:p>
          <a:p>
            <a:r>
              <a:rPr lang="en-US" sz="1800" dirty="0"/>
              <a:t>Enhance switch expressions</a:t>
            </a:r>
          </a:p>
          <a:p>
            <a:r>
              <a:rPr lang="en-US" sz="1800" dirty="0"/>
              <a:t>Pattern matching for switch</a:t>
            </a:r>
            <a:br>
              <a:rPr lang="en-IN" sz="1800" dirty="0"/>
            </a:br>
            <a:endParaRPr lang="en-US" sz="1800" dirty="0"/>
          </a:p>
        </p:txBody>
      </p:sp>
      <p:sp>
        <p:nvSpPr>
          <p:cNvPr id="4" name="Slide Number Placeholder 3">
            <a:extLst>
              <a:ext uri="{FF2B5EF4-FFF2-40B4-BE49-F238E27FC236}">
                <a16:creationId xmlns:a16="http://schemas.microsoft.com/office/drawing/2014/main" id="{88973A6F-BC97-F5E2-1D65-2E1031E9A4F1}"/>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
        <p:nvSpPr>
          <p:cNvPr id="5" name="Content Placeholder 2">
            <a:extLst>
              <a:ext uri="{FF2B5EF4-FFF2-40B4-BE49-F238E27FC236}">
                <a16:creationId xmlns:a16="http://schemas.microsoft.com/office/drawing/2014/main" id="{2FB02EA7-8DCC-2E99-8F2A-FA1609BBF172}"/>
              </a:ext>
            </a:extLst>
          </p:cNvPr>
          <p:cNvSpPr txBox="1">
            <a:spLocks/>
          </p:cNvSpPr>
          <p:nvPr/>
        </p:nvSpPr>
        <p:spPr>
          <a:xfrm>
            <a:off x="6692536" y="1783644"/>
            <a:ext cx="5663461" cy="3960737"/>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r>
              <a:rPr lang="en-US" sz="1800" dirty="0"/>
              <a:t>Sealed types</a:t>
            </a:r>
          </a:p>
          <a:p>
            <a:r>
              <a:rPr lang="en-US" sz="1800" dirty="0"/>
              <a:t>Virtual thread</a:t>
            </a:r>
          </a:p>
          <a:p>
            <a:r>
              <a:rPr lang="en-US" sz="1800" dirty="0"/>
              <a:t>Class file API</a:t>
            </a:r>
          </a:p>
          <a:p>
            <a:r>
              <a:rPr lang="en-US" sz="1800" dirty="0"/>
              <a:t>Module import</a:t>
            </a:r>
          </a:p>
          <a:p>
            <a:r>
              <a:rPr lang="en-US" sz="1800" dirty="0"/>
              <a:t>Stream gatherers</a:t>
            </a:r>
          </a:p>
          <a:p>
            <a:r>
              <a:rPr lang="en-US" sz="1800" dirty="0"/>
              <a:t>Scoped values</a:t>
            </a:r>
          </a:p>
          <a:p>
            <a:r>
              <a:rPr lang="en-US" sz="1800" dirty="0"/>
              <a:t>Flexible constructor bodies</a:t>
            </a:r>
          </a:p>
          <a:p>
            <a:r>
              <a:rPr lang="en-US" sz="1800" dirty="0"/>
              <a:t>Sequenced collections</a:t>
            </a:r>
          </a:p>
          <a:p>
            <a:r>
              <a:rPr lang="en-US" sz="1800" dirty="0"/>
              <a:t>Unnamed classes</a:t>
            </a:r>
          </a:p>
          <a:p>
            <a:r>
              <a:rPr lang="en-US" sz="1800" dirty="0"/>
              <a:t>Multi-file source</a:t>
            </a:r>
          </a:p>
          <a:p>
            <a:endParaRPr lang="en-US" sz="1800" dirty="0"/>
          </a:p>
          <a:p>
            <a:endParaRPr lang="en-US" sz="1800" dirty="0"/>
          </a:p>
          <a:p>
            <a:endParaRPr lang="en-US" sz="1800" dirty="0"/>
          </a:p>
        </p:txBody>
      </p:sp>
    </p:spTree>
    <p:extLst>
      <p:ext uri="{BB962C8B-B14F-4D97-AF65-F5344CB8AC3E}">
        <p14:creationId xmlns:p14="http://schemas.microsoft.com/office/powerpoint/2010/main" val="1414552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6A4F0-92A0-445C-2C9D-60F7AF828DC4}"/>
              </a:ext>
            </a:extLst>
          </p:cNvPr>
          <p:cNvSpPr>
            <a:spLocks noGrp="1"/>
          </p:cNvSpPr>
          <p:nvPr>
            <p:ph type="title"/>
          </p:nvPr>
        </p:nvSpPr>
        <p:spPr>
          <a:xfrm>
            <a:off x="1063752" y="417725"/>
            <a:ext cx="10058400" cy="1609344"/>
          </a:xfrm>
        </p:spPr>
        <p:txBody>
          <a:bodyPr>
            <a:normAutofit/>
          </a:bodyPr>
          <a:lstStyle/>
          <a:p>
            <a:r>
              <a:rPr lang="en-US" dirty="0" err="1"/>
              <a:t>github</a:t>
            </a:r>
            <a:r>
              <a:rPr lang="en-US" dirty="0"/>
              <a:t> repo </a:t>
            </a:r>
          </a:p>
        </p:txBody>
      </p:sp>
      <p:sp>
        <p:nvSpPr>
          <p:cNvPr id="3" name="Content Placeholder 2">
            <a:extLst>
              <a:ext uri="{FF2B5EF4-FFF2-40B4-BE49-F238E27FC236}">
                <a16:creationId xmlns:a16="http://schemas.microsoft.com/office/drawing/2014/main" id="{1B1E3E4F-561C-721E-D1DB-B0126411996C}"/>
              </a:ext>
            </a:extLst>
          </p:cNvPr>
          <p:cNvSpPr>
            <a:spLocks noGrp="1"/>
          </p:cNvSpPr>
          <p:nvPr>
            <p:ph idx="1"/>
          </p:nvPr>
        </p:nvSpPr>
        <p:spPr>
          <a:xfrm>
            <a:off x="1063752" y="1798023"/>
            <a:ext cx="10058400" cy="4050792"/>
          </a:xfrm>
        </p:spPr>
        <p:txBody>
          <a:bodyPr>
            <a:normAutofit/>
          </a:bodyPr>
          <a:lstStyle/>
          <a:p>
            <a:pPr marL="0" indent="0" algn="ctr">
              <a:buNone/>
            </a:pPr>
            <a:r>
              <a:rPr lang="en-US" sz="2400" b="1" dirty="0">
                <a:hlinkClick r:id="rId2"/>
              </a:rPr>
              <a:t>https://</a:t>
            </a:r>
            <a:r>
              <a:rPr lang="en-US" sz="2400" b="1" dirty="0" err="1">
                <a:hlinkClick r:id="rId2"/>
              </a:rPr>
              <a:t>github.com</a:t>
            </a:r>
            <a:r>
              <a:rPr lang="en-US" sz="2400" b="1" dirty="0">
                <a:hlinkClick r:id="rId2"/>
              </a:rPr>
              <a:t>/SumanthJain144/modern-java-features</a:t>
            </a:r>
            <a:endParaRPr lang="en-US" sz="2400" b="1" dirty="0"/>
          </a:p>
        </p:txBody>
      </p:sp>
      <p:sp>
        <p:nvSpPr>
          <p:cNvPr id="4" name="Slide Number Placeholder 3">
            <a:extLst>
              <a:ext uri="{FF2B5EF4-FFF2-40B4-BE49-F238E27FC236}">
                <a16:creationId xmlns:a16="http://schemas.microsoft.com/office/drawing/2014/main" id="{25E55411-B226-CBAA-3133-9766C1729824}"/>
              </a:ext>
            </a:extLst>
          </p:cNvPr>
          <p:cNvSpPr>
            <a:spLocks noGrp="1"/>
          </p:cNvSpPr>
          <p:nvPr>
            <p:ph type="sldNum" sz="quarter" idx="12"/>
          </p:nvPr>
        </p:nvSpPr>
        <p:spPr/>
        <p:txBody>
          <a:bodyPr/>
          <a:lstStyle/>
          <a:p>
            <a:fld id="{D57F1E4F-1CFF-5643-939E-217C01CDF565}" type="slidenum">
              <a:rPr lang="en-US" smtClean="0"/>
              <a:pPr/>
              <a:t>3</a:t>
            </a:fld>
            <a:endParaRPr lang="en-US" dirty="0"/>
          </a:p>
        </p:txBody>
      </p:sp>
      <p:pic>
        <p:nvPicPr>
          <p:cNvPr id="5" name="Picture 4">
            <a:extLst>
              <a:ext uri="{FF2B5EF4-FFF2-40B4-BE49-F238E27FC236}">
                <a16:creationId xmlns:a16="http://schemas.microsoft.com/office/drawing/2014/main" id="{AEB123D4-45FE-80FD-76D7-819F2C0097B0}"/>
              </a:ext>
            </a:extLst>
          </p:cNvPr>
          <p:cNvPicPr>
            <a:picLocks noChangeAspect="1"/>
          </p:cNvPicPr>
          <p:nvPr/>
        </p:nvPicPr>
        <p:blipFill>
          <a:blip r:embed="rId3"/>
          <a:stretch>
            <a:fillRect/>
          </a:stretch>
        </p:blipFill>
        <p:spPr>
          <a:xfrm>
            <a:off x="4060371" y="2455527"/>
            <a:ext cx="4053115" cy="4053115"/>
          </a:xfrm>
          <a:prstGeom prst="rect">
            <a:avLst/>
          </a:prstGeom>
        </p:spPr>
      </p:pic>
    </p:spTree>
    <p:extLst>
      <p:ext uri="{BB962C8B-B14F-4D97-AF65-F5344CB8AC3E}">
        <p14:creationId xmlns:p14="http://schemas.microsoft.com/office/powerpoint/2010/main" val="2777229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36E7C-4EAB-7873-2ECC-DBA05D2ADE46}"/>
              </a:ext>
            </a:extLst>
          </p:cNvPr>
          <p:cNvSpPr>
            <a:spLocks noGrp="1"/>
          </p:cNvSpPr>
          <p:nvPr>
            <p:ph type="title"/>
          </p:nvPr>
        </p:nvSpPr>
        <p:spPr>
          <a:xfrm>
            <a:off x="1208412" y="220091"/>
            <a:ext cx="10058400" cy="1609344"/>
          </a:xfrm>
        </p:spPr>
        <p:txBody>
          <a:bodyPr>
            <a:normAutofit/>
          </a:bodyPr>
          <a:lstStyle/>
          <a:p>
            <a:r>
              <a:rPr lang="en-IN" sz="4000" b="1" dirty="0"/>
              <a:t>Significance of Modern Java Adoption</a:t>
            </a:r>
          </a:p>
        </p:txBody>
      </p:sp>
      <p:sp>
        <p:nvSpPr>
          <p:cNvPr id="3" name="Content Placeholder 2">
            <a:extLst>
              <a:ext uri="{FF2B5EF4-FFF2-40B4-BE49-F238E27FC236}">
                <a16:creationId xmlns:a16="http://schemas.microsoft.com/office/drawing/2014/main" id="{6135A67A-8FF1-2CD7-7091-56AF43E69610}"/>
              </a:ext>
            </a:extLst>
          </p:cNvPr>
          <p:cNvSpPr>
            <a:spLocks noGrp="1"/>
          </p:cNvSpPr>
          <p:nvPr>
            <p:ph idx="1"/>
          </p:nvPr>
        </p:nvSpPr>
        <p:spPr>
          <a:xfrm>
            <a:off x="1208412" y="1540189"/>
            <a:ext cx="8915400" cy="3777622"/>
          </a:xfrm>
        </p:spPr>
        <p:txBody>
          <a:bodyPr>
            <a:noAutofit/>
          </a:bodyPr>
          <a:lstStyle/>
          <a:p>
            <a:pPr>
              <a:lnSpc>
                <a:spcPct val="150000"/>
              </a:lnSpc>
            </a:pPr>
            <a:r>
              <a:rPr lang="en-IN" dirty="0"/>
              <a:t>Improved Performance &amp; Memory Efficiency</a:t>
            </a:r>
          </a:p>
          <a:p>
            <a:pPr>
              <a:lnSpc>
                <a:spcPct val="150000"/>
              </a:lnSpc>
            </a:pPr>
            <a:r>
              <a:rPr lang="en-IN" dirty="0"/>
              <a:t>Modern Concurrency Simplified</a:t>
            </a:r>
          </a:p>
          <a:p>
            <a:pPr>
              <a:lnSpc>
                <a:spcPct val="150000"/>
              </a:lnSpc>
            </a:pPr>
            <a:r>
              <a:rPr lang="en-IN" dirty="0"/>
              <a:t>Better Data Modelling &amp; Immutability</a:t>
            </a:r>
          </a:p>
          <a:p>
            <a:pPr>
              <a:lnSpc>
                <a:spcPct val="150000"/>
              </a:lnSpc>
            </a:pPr>
            <a:r>
              <a:rPr lang="en-IN" dirty="0"/>
              <a:t>Less Boilerplate, More Expressive Code</a:t>
            </a:r>
          </a:p>
          <a:p>
            <a:pPr>
              <a:lnSpc>
                <a:spcPct val="150000"/>
              </a:lnSpc>
            </a:pPr>
            <a:r>
              <a:rPr lang="en-IN" dirty="0"/>
              <a:t>Long-Term Stability &amp; Security</a:t>
            </a:r>
          </a:p>
          <a:p>
            <a:pPr marL="0" indent="0">
              <a:buNone/>
            </a:pPr>
            <a:endParaRPr lang="en-IN" dirty="0"/>
          </a:p>
          <a:p>
            <a:endParaRPr lang="en-IN" dirty="0"/>
          </a:p>
          <a:p>
            <a:pPr marL="0" indent="0">
              <a:buNone/>
            </a:pPr>
            <a:endParaRPr lang="en-IN" dirty="0"/>
          </a:p>
          <a:p>
            <a:endParaRPr lang="en-IN" dirty="0"/>
          </a:p>
          <a:p>
            <a:pPr marL="0" indent="0">
              <a:lnSpc>
                <a:spcPct val="150000"/>
              </a:lnSpc>
              <a:buNone/>
            </a:pPr>
            <a:endParaRPr lang="en-US" sz="1600" dirty="0"/>
          </a:p>
        </p:txBody>
      </p:sp>
      <p:sp>
        <p:nvSpPr>
          <p:cNvPr id="5" name="Slide Number Placeholder 4">
            <a:extLst>
              <a:ext uri="{FF2B5EF4-FFF2-40B4-BE49-F238E27FC236}">
                <a16:creationId xmlns:a16="http://schemas.microsoft.com/office/drawing/2014/main" id="{3F450234-F9E9-290A-9304-E9E1933B0448}"/>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1029385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E9B8E-5392-CFFB-D5A0-C1F7E9EEFE95}"/>
              </a:ext>
            </a:extLst>
          </p:cNvPr>
          <p:cNvSpPr>
            <a:spLocks noGrp="1"/>
          </p:cNvSpPr>
          <p:nvPr>
            <p:ph type="title"/>
          </p:nvPr>
        </p:nvSpPr>
        <p:spPr/>
        <p:txBody>
          <a:bodyPr>
            <a:noAutofit/>
          </a:bodyPr>
          <a:lstStyle/>
          <a:p>
            <a:r>
              <a:rPr lang="en-IN" sz="4400" b="1" dirty="0"/>
              <a:t>var – Local Variable Type Inference</a:t>
            </a:r>
            <a:br>
              <a:rPr lang="en-IN" sz="4400" b="1" dirty="0"/>
            </a:br>
            <a:endParaRPr lang="en-US" sz="4400" dirty="0"/>
          </a:p>
        </p:txBody>
      </p:sp>
      <p:sp>
        <p:nvSpPr>
          <p:cNvPr id="3" name="Content Placeholder 2">
            <a:extLst>
              <a:ext uri="{FF2B5EF4-FFF2-40B4-BE49-F238E27FC236}">
                <a16:creationId xmlns:a16="http://schemas.microsoft.com/office/drawing/2014/main" id="{878BE52C-1731-64E6-0B1E-1E60FDB5C958}"/>
              </a:ext>
            </a:extLst>
          </p:cNvPr>
          <p:cNvSpPr>
            <a:spLocks noGrp="1"/>
          </p:cNvSpPr>
          <p:nvPr>
            <p:ph idx="1"/>
          </p:nvPr>
        </p:nvSpPr>
        <p:spPr/>
        <p:txBody>
          <a:bodyPr>
            <a:normAutofit/>
          </a:bodyPr>
          <a:lstStyle/>
          <a:p>
            <a:pPr>
              <a:lnSpc>
                <a:spcPct val="150000"/>
              </a:lnSpc>
            </a:pPr>
            <a:r>
              <a:rPr lang="en-IN" dirty="0"/>
              <a:t>Introduced in </a:t>
            </a:r>
            <a:r>
              <a:rPr lang="en-IN" b="1" dirty="0"/>
              <a:t>Java 10</a:t>
            </a:r>
            <a:r>
              <a:rPr lang="en-IN" dirty="0"/>
              <a:t> (standard)</a:t>
            </a:r>
          </a:p>
          <a:p>
            <a:pPr>
              <a:lnSpc>
                <a:spcPct val="150000"/>
              </a:lnSpc>
            </a:pPr>
            <a:r>
              <a:rPr lang="en-IN" dirty="0"/>
              <a:t>Allows using var to declare local variables with inferred types</a:t>
            </a:r>
          </a:p>
          <a:p>
            <a:pPr>
              <a:lnSpc>
                <a:spcPct val="150000"/>
              </a:lnSpc>
            </a:pPr>
            <a:r>
              <a:rPr lang="en-IN" dirty="0"/>
              <a:t>Syntax: var name = "John"; → compiler infers String</a:t>
            </a:r>
          </a:p>
          <a:p>
            <a:pPr>
              <a:lnSpc>
                <a:spcPct val="150000"/>
              </a:lnSpc>
            </a:pPr>
            <a:r>
              <a:rPr lang="en-IN" dirty="0"/>
              <a:t>Reduces </a:t>
            </a:r>
            <a:r>
              <a:rPr lang="en-IN" b="1" dirty="0"/>
              <a:t>boilerplate</a:t>
            </a:r>
            <a:r>
              <a:rPr lang="en-IN" dirty="0"/>
              <a:t> for obvious types</a:t>
            </a:r>
          </a:p>
          <a:p>
            <a:pPr>
              <a:lnSpc>
                <a:spcPct val="150000"/>
              </a:lnSpc>
            </a:pPr>
            <a:endParaRPr lang="en-IN" dirty="0"/>
          </a:p>
          <a:p>
            <a:pPr marL="0" indent="0">
              <a:buNone/>
            </a:pPr>
            <a:endParaRPr lang="en-US" dirty="0"/>
          </a:p>
        </p:txBody>
      </p:sp>
      <p:sp>
        <p:nvSpPr>
          <p:cNvPr id="5" name="Slide Number Placeholder 4">
            <a:extLst>
              <a:ext uri="{FF2B5EF4-FFF2-40B4-BE49-F238E27FC236}">
                <a16:creationId xmlns:a16="http://schemas.microsoft.com/office/drawing/2014/main" id="{D982CADD-3289-FB6F-0555-3A63FFF3468A}"/>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4148586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E651B-12EA-503A-E9E5-3E87F74512A7}"/>
              </a:ext>
            </a:extLst>
          </p:cNvPr>
          <p:cNvSpPr>
            <a:spLocks noGrp="1"/>
          </p:cNvSpPr>
          <p:nvPr>
            <p:ph type="title"/>
          </p:nvPr>
        </p:nvSpPr>
        <p:spPr/>
        <p:txBody>
          <a:bodyPr/>
          <a:lstStyle/>
          <a:p>
            <a:r>
              <a:rPr lang="en-US" b="1" dirty="0"/>
              <a:t>New String methods</a:t>
            </a:r>
          </a:p>
        </p:txBody>
      </p:sp>
      <p:sp>
        <p:nvSpPr>
          <p:cNvPr id="3" name="Content Placeholder 2">
            <a:extLst>
              <a:ext uri="{FF2B5EF4-FFF2-40B4-BE49-F238E27FC236}">
                <a16:creationId xmlns:a16="http://schemas.microsoft.com/office/drawing/2014/main" id="{D6C94CA5-CFA8-106B-11B5-043378125578}"/>
              </a:ext>
            </a:extLst>
          </p:cNvPr>
          <p:cNvSpPr>
            <a:spLocks noGrp="1"/>
          </p:cNvSpPr>
          <p:nvPr>
            <p:ph idx="1"/>
          </p:nvPr>
        </p:nvSpPr>
        <p:spPr/>
        <p:txBody>
          <a:bodyPr>
            <a:normAutofit/>
          </a:bodyPr>
          <a:lstStyle/>
          <a:p>
            <a:pPr>
              <a:lnSpc>
                <a:spcPct val="150000"/>
              </a:lnSpc>
            </a:pPr>
            <a:r>
              <a:rPr lang="en-IN" dirty="0"/>
              <a:t>Introduced in </a:t>
            </a:r>
            <a:r>
              <a:rPr lang="en-IN" b="1" dirty="0"/>
              <a:t>Java 11(standard)</a:t>
            </a:r>
          </a:p>
          <a:p>
            <a:pPr>
              <a:lnSpc>
                <a:spcPct val="150000"/>
              </a:lnSpc>
            </a:pPr>
            <a:r>
              <a:rPr lang="en-IN" dirty="0"/>
              <a:t>Added methods: </a:t>
            </a:r>
            <a:r>
              <a:rPr lang="en-IN" dirty="0" err="1"/>
              <a:t>isBlank</a:t>
            </a:r>
            <a:r>
              <a:rPr lang="en-IN" dirty="0"/>
              <a:t>(), lines(), strip(), </a:t>
            </a:r>
            <a:r>
              <a:rPr lang="en-IN" dirty="0" err="1"/>
              <a:t>stripLeading</a:t>
            </a:r>
            <a:r>
              <a:rPr lang="en-IN" dirty="0"/>
              <a:t>(), </a:t>
            </a:r>
            <a:r>
              <a:rPr lang="en-IN" dirty="0" err="1"/>
              <a:t>stripTrailing</a:t>
            </a:r>
            <a:r>
              <a:rPr lang="en-IN" dirty="0"/>
              <a:t>(), repeat()</a:t>
            </a:r>
          </a:p>
          <a:p>
            <a:pPr>
              <a:lnSpc>
                <a:spcPct val="150000"/>
              </a:lnSpc>
            </a:pPr>
            <a:r>
              <a:rPr lang="en-IN" dirty="0"/>
              <a:t>Simplifies common string operations without external libraries</a:t>
            </a:r>
          </a:p>
          <a:p>
            <a:pPr>
              <a:lnSpc>
                <a:spcPct val="150000"/>
              </a:lnSpc>
            </a:pPr>
            <a:r>
              <a:rPr lang="en-IN" dirty="0"/>
              <a:t>Unicode-aware trimming (replaces trim())</a:t>
            </a:r>
          </a:p>
          <a:p>
            <a:pPr>
              <a:lnSpc>
                <a:spcPct val="150000"/>
              </a:lnSpc>
            </a:pPr>
            <a:r>
              <a:rPr lang="en-IN" dirty="0"/>
              <a:t>Enables cleaner code with fewer helper methods</a:t>
            </a:r>
          </a:p>
          <a:p>
            <a:pPr marL="0" indent="0">
              <a:lnSpc>
                <a:spcPct val="150000"/>
              </a:lnSpc>
              <a:buNone/>
            </a:pPr>
            <a:endParaRPr lang="en-US" dirty="0"/>
          </a:p>
        </p:txBody>
      </p:sp>
      <p:sp>
        <p:nvSpPr>
          <p:cNvPr id="5" name="Slide Number Placeholder 4">
            <a:extLst>
              <a:ext uri="{FF2B5EF4-FFF2-40B4-BE49-F238E27FC236}">
                <a16:creationId xmlns:a16="http://schemas.microsoft.com/office/drawing/2014/main" id="{C9493595-5792-21F2-F302-C43D7D548DAC}"/>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603188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A382E-5A9D-B58E-0DD6-49125D952CD1}"/>
              </a:ext>
            </a:extLst>
          </p:cNvPr>
          <p:cNvSpPr>
            <a:spLocks noGrp="1"/>
          </p:cNvSpPr>
          <p:nvPr>
            <p:ph type="title"/>
          </p:nvPr>
        </p:nvSpPr>
        <p:spPr/>
        <p:txBody>
          <a:bodyPr/>
          <a:lstStyle/>
          <a:p>
            <a:r>
              <a:rPr lang="en-IN" b="1" dirty="0"/>
              <a:t>Compact Number Formatting</a:t>
            </a:r>
            <a:br>
              <a:rPr lang="en-IN" b="1" dirty="0"/>
            </a:br>
            <a:endParaRPr lang="en-US" dirty="0"/>
          </a:p>
        </p:txBody>
      </p:sp>
      <p:sp>
        <p:nvSpPr>
          <p:cNvPr id="3" name="Content Placeholder 2">
            <a:extLst>
              <a:ext uri="{FF2B5EF4-FFF2-40B4-BE49-F238E27FC236}">
                <a16:creationId xmlns:a16="http://schemas.microsoft.com/office/drawing/2014/main" id="{8EDDBE3C-1465-B1EC-0596-56EDC6E6DC1B}"/>
              </a:ext>
            </a:extLst>
          </p:cNvPr>
          <p:cNvSpPr>
            <a:spLocks noGrp="1"/>
          </p:cNvSpPr>
          <p:nvPr>
            <p:ph idx="1"/>
          </p:nvPr>
        </p:nvSpPr>
        <p:spPr/>
        <p:txBody>
          <a:bodyPr>
            <a:normAutofit/>
          </a:bodyPr>
          <a:lstStyle/>
          <a:p>
            <a:pPr>
              <a:lnSpc>
                <a:spcPct val="150000"/>
              </a:lnSpc>
            </a:pPr>
            <a:r>
              <a:rPr lang="en-IN" dirty="0"/>
              <a:t>Introduced in </a:t>
            </a:r>
            <a:r>
              <a:rPr lang="en-IN" b="1" dirty="0"/>
              <a:t>Java 12</a:t>
            </a:r>
            <a:r>
              <a:rPr lang="en-IN" dirty="0"/>
              <a:t> (standard)</a:t>
            </a:r>
          </a:p>
          <a:p>
            <a:pPr>
              <a:lnSpc>
                <a:spcPct val="150000"/>
              </a:lnSpc>
            </a:pPr>
            <a:r>
              <a:rPr lang="en-IN" dirty="0" err="1"/>
              <a:t>getCompactNumberInstance</a:t>
            </a:r>
            <a:r>
              <a:rPr lang="en-IN" dirty="0"/>
              <a:t>()</a:t>
            </a:r>
          </a:p>
          <a:p>
            <a:pPr>
              <a:lnSpc>
                <a:spcPct val="150000"/>
              </a:lnSpc>
            </a:pPr>
            <a:r>
              <a:rPr lang="en-IN" dirty="0"/>
              <a:t>Formats numbers in a </a:t>
            </a:r>
            <a:r>
              <a:rPr lang="en-IN" b="1" dirty="0"/>
              <a:t>shortened, human-readable</a:t>
            </a:r>
            <a:r>
              <a:rPr lang="en-IN" dirty="0"/>
              <a:t> form (e.g., 1K, 2M)</a:t>
            </a:r>
          </a:p>
          <a:p>
            <a:pPr>
              <a:lnSpc>
                <a:spcPct val="150000"/>
              </a:lnSpc>
            </a:pPr>
            <a:r>
              <a:rPr lang="en-IN" dirty="0"/>
              <a:t>Eliminates the need for </a:t>
            </a:r>
            <a:r>
              <a:rPr lang="en-IN" b="1" dirty="0"/>
              <a:t>custom number shortening logic</a:t>
            </a:r>
            <a:endParaRPr lang="en-IN" dirty="0"/>
          </a:p>
          <a:p>
            <a:pPr>
              <a:lnSpc>
                <a:spcPct val="150000"/>
              </a:lnSpc>
            </a:pPr>
            <a:r>
              <a:rPr lang="en-IN" dirty="0"/>
              <a:t>Enhances </a:t>
            </a:r>
            <a:r>
              <a:rPr lang="en-IN" b="1" dirty="0"/>
              <a:t>readability</a:t>
            </a:r>
            <a:r>
              <a:rPr lang="en-IN" dirty="0"/>
              <a:t> in UI and reports</a:t>
            </a:r>
          </a:p>
          <a:p>
            <a:pPr marL="0" indent="0">
              <a:lnSpc>
                <a:spcPct val="150000"/>
              </a:lnSpc>
              <a:buNone/>
            </a:pPr>
            <a:endParaRPr lang="en-US" dirty="0"/>
          </a:p>
        </p:txBody>
      </p:sp>
      <p:sp>
        <p:nvSpPr>
          <p:cNvPr id="5" name="Slide Number Placeholder 4">
            <a:extLst>
              <a:ext uri="{FF2B5EF4-FFF2-40B4-BE49-F238E27FC236}">
                <a16:creationId xmlns:a16="http://schemas.microsoft.com/office/drawing/2014/main" id="{A64C3BBC-FA5E-AFF3-82E2-F352C544B5E8}"/>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1517812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1D281-A020-5EBD-005B-E64E5CE4399F}"/>
              </a:ext>
            </a:extLst>
          </p:cNvPr>
          <p:cNvSpPr>
            <a:spLocks noGrp="1"/>
          </p:cNvSpPr>
          <p:nvPr>
            <p:ph type="title"/>
          </p:nvPr>
        </p:nvSpPr>
        <p:spPr/>
        <p:txBody>
          <a:bodyPr/>
          <a:lstStyle/>
          <a:p>
            <a:r>
              <a:rPr lang="en-US" b="1" dirty="0"/>
              <a:t>Text blocks</a:t>
            </a:r>
            <a:endParaRPr lang="en-US" dirty="0"/>
          </a:p>
        </p:txBody>
      </p:sp>
      <p:sp>
        <p:nvSpPr>
          <p:cNvPr id="3" name="Content Placeholder 2">
            <a:extLst>
              <a:ext uri="{FF2B5EF4-FFF2-40B4-BE49-F238E27FC236}">
                <a16:creationId xmlns:a16="http://schemas.microsoft.com/office/drawing/2014/main" id="{892376D0-DDC4-0F49-C8B9-40D90129E717}"/>
              </a:ext>
            </a:extLst>
          </p:cNvPr>
          <p:cNvSpPr>
            <a:spLocks noGrp="1"/>
          </p:cNvSpPr>
          <p:nvPr>
            <p:ph idx="1"/>
          </p:nvPr>
        </p:nvSpPr>
        <p:spPr/>
        <p:txBody>
          <a:bodyPr/>
          <a:lstStyle/>
          <a:p>
            <a:pPr>
              <a:lnSpc>
                <a:spcPct val="150000"/>
              </a:lnSpc>
            </a:pPr>
            <a:r>
              <a:rPr lang="en-IN" dirty="0"/>
              <a:t>Introduced in </a:t>
            </a:r>
            <a:r>
              <a:rPr lang="en-IN" b="1" dirty="0"/>
              <a:t>Java 15</a:t>
            </a:r>
            <a:r>
              <a:rPr lang="en-IN" dirty="0"/>
              <a:t> (standard)</a:t>
            </a:r>
          </a:p>
          <a:p>
            <a:pPr>
              <a:lnSpc>
                <a:spcPct val="150000"/>
              </a:lnSpc>
            </a:pPr>
            <a:r>
              <a:rPr lang="en-IN" dirty="0"/>
              <a:t>Allows writing </a:t>
            </a:r>
            <a:r>
              <a:rPr lang="en-IN" b="1" dirty="0"/>
              <a:t>multi-line strings</a:t>
            </a:r>
            <a:r>
              <a:rPr lang="en-IN" dirty="0"/>
              <a:t> using the </a:t>
            </a:r>
            <a:r>
              <a:rPr lang="en-IN" b="1" dirty="0"/>
              <a:t>"""</a:t>
            </a:r>
            <a:r>
              <a:rPr lang="en-IN" dirty="0"/>
              <a:t> syntax</a:t>
            </a:r>
          </a:p>
          <a:p>
            <a:pPr>
              <a:lnSpc>
                <a:spcPct val="150000"/>
              </a:lnSpc>
            </a:pPr>
            <a:r>
              <a:rPr lang="en-IN" dirty="0"/>
              <a:t>Improves </a:t>
            </a:r>
            <a:r>
              <a:rPr lang="en-IN" b="1" dirty="0"/>
              <a:t>readability</a:t>
            </a:r>
            <a:r>
              <a:rPr lang="en-IN" dirty="0"/>
              <a:t> of JSON, SQL, XML, and HTML</a:t>
            </a:r>
          </a:p>
          <a:p>
            <a:pPr marL="0" indent="0">
              <a:buNone/>
            </a:pP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27CD7FF-5CBA-684B-EFEE-92B3508FA48A}"/>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1627734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33007-6D2C-B22C-7178-815602703274}"/>
              </a:ext>
            </a:extLst>
          </p:cNvPr>
          <p:cNvSpPr>
            <a:spLocks noGrp="1"/>
          </p:cNvSpPr>
          <p:nvPr>
            <p:ph type="title"/>
          </p:nvPr>
        </p:nvSpPr>
        <p:spPr/>
        <p:txBody>
          <a:bodyPr/>
          <a:lstStyle/>
          <a:p>
            <a:r>
              <a:rPr lang="en-IN" b="1" dirty="0"/>
              <a:t>Records</a:t>
            </a:r>
            <a:endParaRPr lang="en-US" dirty="0"/>
          </a:p>
        </p:txBody>
      </p:sp>
      <p:sp>
        <p:nvSpPr>
          <p:cNvPr id="3" name="Content Placeholder 2">
            <a:extLst>
              <a:ext uri="{FF2B5EF4-FFF2-40B4-BE49-F238E27FC236}">
                <a16:creationId xmlns:a16="http://schemas.microsoft.com/office/drawing/2014/main" id="{637DB302-348D-10FF-B9F3-05DA7CEF2003}"/>
              </a:ext>
            </a:extLst>
          </p:cNvPr>
          <p:cNvSpPr>
            <a:spLocks noGrp="1"/>
          </p:cNvSpPr>
          <p:nvPr>
            <p:ph idx="1"/>
          </p:nvPr>
        </p:nvSpPr>
        <p:spPr/>
        <p:txBody>
          <a:bodyPr>
            <a:normAutofit/>
          </a:bodyPr>
          <a:lstStyle/>
          <a:p>
            <a:pPr>
              <a:lnSpc>
                <a:spcPct val="150000"/>
              </a:lnSpc>
            </a:pPr>
            <a:r>
              <a:rPr lang="en-IN" dirty="0"/>
              <a:t>Introduced in </a:t>
            </a:r>
            <a:r>
              <a:rPr lang="en-IN" b="1" dirty="0"/>
              <a:t>Java 16</a:t>
            </a:r>
            <a:r>
              <a:rPr lang="en-IN" dirty="0"/>
              <a:t> (standard)</a:t>
            </a:r>
          </a:p>
          <a:p>
            <a:pPr>
              <a:lnSpc>
                <a:spcPct val="150000"/>
              </a:lnSpc>
            </a:pPr>
            <a:r>
              <a:rPr lang="en-IN" dirty="0"/>
              <a:t>Compact syntax for declaring </a:t>
            </a:r>
            <a:r>
              <a:rPr lang="en-IN" b="1" dirty="0"/>
              <a:t>immutable data carriers</a:t>
            </a:r>
            <a:endParaRPr lang="en-IN" dirty="0"/>
          </a:p>
          <a:p>
            <a:pPr>
              <a:lnSpc>
                <a:spcPct val="150000"/>
              </a:lnSpc>
            </a:pPr>
            <a:r>
              <a:rPr lang="en-IN" dirty="0"/>
              <a:t>Auto-generates: Constructor, Getters, equals(), </a:t>
            </a:r>
            <a:r>
              <a:rPr lang="en-IN" dirty="0" err="1"/>
              <a:t>hashCode</a:t>
            </a:r>
            <a:r>
              <a:rPr lang="en-IN" dirty="0"/>
              <a:t>(), </a:t>
            </a:r>
            <a:r>
              <a:rPr lang="en-IN" dirty="0" err="1"/>
              <a:t>toString</a:t>
            </a:r>
            <a:r>
              <a:rPr lang="en-IN" dirty="0"/>
              <a:t>()</a:t>
            </a:r>
          </a:p>
          <a:p>
            <a:pPr>
              <a:lnSpc>
                <a:spcPct val="150000"/>
              </a:lnSpc>
            </a:pPr>
            <a:r>
              <a:rPr lang="en-IN" dirty="0"/>
              <a:t>Eliminates </a:t>
            </a:r>
            <a:r>
              <a:rPr lang="en-IN" b="1" dirty="0"/>
              <a:t>boilerplate code</a:t>
            </a:r>
            <a:r>
              <a:rPr lang="en-IN" dirty="0"/>
              <a:t> in POJOs</a:t>
            </a:r>
          </a:p>
          <a:p>
            <a:pPr>
              <a:lnSpc>
                <a:spcPct val="150000"/>
              </a:lnSpc>
            </a:pPr>
            <a:r>
              <a:rPr lang="en-IN" dirty="0"/>
              <a:t>Ideal for </a:t>
            </a:r>
            <a:r>
              <a:rPr lang="en-IN" b="1" dirty="0"/>
              <a:t>DTOs</a:t>
            </a:r>
            <a:r>
              <a:rPr lang="en-IN" dirty="0"/>
              <a:t>, </a:t>
            </a:r>
            <a:r>
              <a:rPr lang="en-IN" b="1" dirty="0"/>
              <a:t>event models</a:t>
            </a:r>
            <a:r>
              <a:rPr lang="en-IN" dirty="0"/>
              <a:t>, and </a:t>
            </a:r>
            <a:r>
              <a:rPr lang="en-IN" b="1" dirty="0"/>
              <a:t>value objects</a:t>
            </a:r>
            <a:endParaRPr lang="en-IN" dirty="0"/>
          </a:p>
          <a:p>
            <a:pPr marL="0" indent="0">
              <a:buNone/>
            </a:pPr>
            <a:endParaRPr lang="en-IN" b="1" dirty="0"/>
          </a:p>
        </p:txBody>
      </p:sp>
      <p:sp>
        <p:nvSpPr>
          <p:cNvPr id="5" name="Slide Number Placeholder 4">
            <a:extLst>
              <a:ext uri="{FF2B5EF4-FFF2-40B4-BE49-F238E27FC236}">
                <a16:creationId xmlns:a16="http://schemas.microsoft.com/office/drawing/2014/main" id="{BDE5640B-5B1C-72F6-89C7-8C672BA17E3B}"/>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Tree>
    <p:extLst>
      <p:ext uri="{BB962C8B-B14F-4D97-AF65-F5344CB8AC3E}">
        <p14:creationId xmlns:p14="http://schemas.microsoft.com/office/powerpoint/2010/main" val="3258589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7E146-6B7B-BE17-0CDD-DCCF472C8E68}"/>
              </a:ext>
            </a:extLst>
          </p:cNvPr>
          <p:cNvSpPr>
            <a:spLocks noGrp="1"/>
          </p:cNvSpPr>
          <p:nvPr>
            <p:ph type="title"/>
          </p:nvPr>
        </p:nvSpPr>
        <p:spPr/>
        <p:txBody>
          <a:bodyPr/>
          <a:lstStyle/>
          <a:p>
            <a:r>
              <a:rPr lang="en-US" dirty="0"/>
              <a:t>Pattern matching </a:t>
            </a:r>
            <a:br>
              <a:rPr lang="en-IN" b="1" dirty="0"/>
            </a:br>
            <a:endParaRPr lang="en-US" dirty="0"/>
          </a:p>
        </p:txBody>
      </p:sp>
      <p:sp>
        <p:nvSpPr>
          <p:cNvPr id="3" name="Content Placeholder 2">
            <a:extLst>
              <a:ext uri="{FF2B5EF4-FFF2-40B4-BE49-F238E27FC236}">
                <a16:creationId xmlns:a16="http://schemas.microsoft.com/office/drawing/2014/main" id="{BE2FB140-0D4C-D022-7DB9-238081AAB47A}"/>
              </a:ext>
            </a:extLst>
          </p:cNvPr>
          <p:cNvSpPr>
            <a:spLocks noGrp="1"/>
          </p:cNvSpPr>
          <p:nvPr>
            <p:ph idx="1"/>
          </p:nvPr>
        </p:nvSpPr>
        <p:spPr/>
        <p:txBody>
          <a:bodyPr/>
          <a:lstStyle/>
          <a:p>
            <a:pPr>
              <a:lnSpc>
                <a:spcPct val="150000"/>
              </a:lnSpc>
            </a:pPr>
            <a:r>
              <a:rPr lang="en-IN" dirty="0" err="1"/>
              <a:t>instanceOf</a:t>
            </a:r>
            <a:r>
              <a:rPr lang="en-IN" dirty="0"/>
              <a:t> pattern matching introduced in </a:t>
            </a:r>
            <a:r>
              <a:rPr lang="en-IN" b="1" dirty="0"/>
              <a:t>Java 16</a:t>
            </a:r>
            <a:r>
              <a:rPr lang="en-IN" dirty="0"/>
              <a:t> (standard)</a:t>
            </a:r>
            <a:endParaRPr lang="en-US" dirty="0"/>
          </a:p>
          <a:p>
            <a:pPr>
              <a:lnSpc>
                <a:spcPct val="150000"/>
              </a:lnSpc>
            </a:pPr>
            <a:r>
              <a:rPr lang="en-US" dirty="0"/>
              <a:t>Simplify code that deals with type-checking and casting</a:t>
            </a:r>
          </a:p>
          <a:p>
            <a:pPr>
              <a:lnSpc>
                <a:spcPct val="150000"/>
              </a:lnSpc>
            </a:pPr>
            <a:r>
              <a:rPr lang="en-US" dirty="0" err="1"/>
              <a:t>instanceOf</a:t>
            </a:r>
            <a:r>
              <a:rPr lang="en-US" dirty="0"/>
              <a:t> and switch statements/expressions</a:t>
            </a:r>
          </a:p>
          <a:p>
            <a:pPr marL="0" indent="0">
              <a:lnSpc>
                <a:spcPct val="150000"/>
              </a:lnSpc>
              <a:buNone/>
            </a:pPr>
            <a:endParaRPr lang="en-US" dirty="0"/>
          </a:p>
          <a:p>
            <a:pPr>
              <a:lnSpc>
                <a:spcPct val="150000"/>
              </a:lnSpc>
            </a:pPr>
            <a:endParaRPr lang="en-US" dirty="0"/>
          </a:p>
        </p:txBody>
      </p:sp>
      <p:sp>
        <p:nvSpPr>
          <p:cNvPr id="4" name="Slide Number Placeholder 3">
            <a:extLst>
              <a:ext uri="{FF2B5EF4-FFF2-40B4-BE49-F238E27FC236}">
                <a16:creationId xmlns:a16="http://schemas.microsoft.com/office/drawing/2014/main" id="{B3938BEA-2AD6-D597-FC4E-42076489447B}"/>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4106818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1D656-A3A3-9572-A916-559A6F9C1597}"/>
              </a:ext>
            </a:extLst>
          </p:cNvPr>
          <p:cNvSpPr>
            <a:spLocks noGrp="1"/>
          </p:cNvSpPr>
          <p:nvPr>
            <p:ph type="title"/>
          </p:nvPr>
        </p:nvSpPr>
        <p:spPr/>
        <p:txBody>
          <a:bodyPr/>
          <a:lstStyle/>
          <a:p>
            <a:r>
              <a:rPr lang="en-IN" b="1" dirty="0"/>
              <a:t>Pattern matching with </a:t>
            </a:r>
            <a:r>
              <a:rPr lang="en-IN" b="1" dirty="0" err="1"/>
              <a:t>instanceOf</a:t>
            </a:r>
            <a:r>
              <a:rPr lang="en-IN" b="1" dirty="0"/>
              <a:t> Operator</a:t>
            </a:r>
            <a:endParaRPr lang="en-US" dirty="0"/>
          </a:p>
        </p:txBody>
      </p:sp>
      <p:sp>
        <p:nvSpPr>
          <p:cNvPr id="3" name="Content Placeholder 2">
            <a:extLst>
              <a:ext uri="{FF2B5EF4-FFF2-40B4-BE49-F238E27FC236}">
                <a16:creationId xmlns:a16="http://schemas.microsoft.com/office/drawing/2014/main" id="{2B407DCE-920C-0011-458F-551949975B3B}"/>
              </a:ext>
            </a:extLst>
          </p:cNvPr>
          <p:cNvSpPr>
            <a:spLocks noGrp="1"/>
          </p:cNvSpPr>
          <p:nvPr>
            <p:ph idx="1"/>
          </p:nvPr>
        </p:nvSpPr>
        <p:spPr/>
        <p:txBody>
          <a:bodyPr>
            <a:normAutofit/>
          </a:bodyPr>
          <a:lstStyle/>
          <a:p>
            <a:pPr marL="0" marR="0">
              <a:buNone/>
            </a:pPr>
            <a:r>
              <a:rPr lang="en-IN" sz="1800" b="1" dirty="0">
                <a:solidFill>
                  <a:srgbClr val="7F0055"/>
                </a:solidFill>
                <a:latin typeface="Consolas" panose="020B0609020204030204" pitchFamily="49" charset="0"/>
              </a:rPr>
              <a:t>if</a:t>
            </a:r>
            <a:r>
              <a:rPr lang="en-IN" sz="1800" dirty="0">
                <a:solidFill>
                  <a:srgbClr val="000000"/>
                </a:solidFill>
                <a:latin typeface="Consolas" panose="020B0609020204030204" pitchFamily="49" charset="0"/>
              </a:rPr>
              <a:t> (</a:t>
            </a:r>
            <a:r>
              <a:rPr lang="en-IN" sz="1800" dirty="0" err="1">
                <a:solidFill>
                  <a:srgbClr val="6A3E3E"/>
                </a:solidFill>
                <a:latin typeface="Consolas" panose="020B0609020204030204" pitchFamily="49" charset="0"/>
              </a:rPr>
              <a:t>obj</a:t>
            </a:r>
            <a:r>
              <a:rPr lang="en-IN" sz="1800" dirty="0">
                <a:solidFill>
                  <a:srgbClr val="000000"/>
                </a:solidFill>
                <a:latin typeface="Consolas" panose="020B0609020204030204" pitchFamily="49" charset="0"/>
              </a:rPr>
              <a:t> </a:t>
            </a:r>
            <a:r>
              <a:rPr lang="en-IN" sz="1800" b="1" dirty="0" err="1">
                <a:solidFill>
                  <a:srgbClr val="7F0055"/>
                </a:solidFill>
                <a:latin typeface="Consolas" panose="020B0609020204030204" pitchFamily="49" charset="0"/>
              </a:rPr>
              <a:t>instanceof</a:t>
            </a:r>
            <a:r>
              <a:rPr lang="en-IN" sz="1800" dirty="0">
                <a:solidFill>
                  <a:srgbClr val="000000"/>
                </a:solidFill>
                <a:latin typeface="Consolas" panose="020B0609020204030204" pitchFamily="49" charset="0"/>
              </a:rPr>
              <a:t> String) {</a:t>
            </a:r>
          </a:p>
          <a:p>
            <a:pPr marL="0" marR="0">
              <a:buNone/>
            </a:pPr>
            <a:r>
              <a:rPr lang="en-IN" sz="1800" dirty="0">
                <a:solidFill>
                  <a:srgbClr val="000000"/>
                </a:solidFill>
                <a:latin typeface="Consolas" panose="020B0609020204030204" pitchFamily="49" charset="0"/>
              </a:rPr>
              <a:t>	String </a:t>
            </a:r>
            <a:r>
              <a:rPr lang="en-IN" sz="1800" dirty="0">
                <a:solidFill>
                  <a:srgbClr val="6A3E3E"/>
                </a:solidFill>
                <a:latin typeface="Consolas" panose="020B0609020204030204" pitchFamily="49" charset="0"/>
              </a:rPr>
              <a:t>s</a:t>
            </a:r>
            <a:r>
              <a:rPr lang="en-IN" sz="1800" dirty="0">
                <a:solidFill>
                  <a:srgbClr val="000000"/>
                </a:solidFill>
                <a:latin typeface="Consolas" panose="020B0609020204030204" pitchFamily="49" charset="0"/>
              </a:rPr>
              <a:t> = (String) </a:t>
            </a:r>
            <a:r>
              <a:rPr lang="en-IN" sz="1800" dirty="0" err="1">
                <a:solidFill>
                  <a:srgbClr val="6A3E3E"/>
                </a:solidFill>
                <a:latin typeface="Consolas" panose="020B0609020204030204" pitchFamily="49" charset="0"/>
              </a:rPr>
              <a:t>obj</a:t>
            </a:r>
            <a:r>
              <a:rPr lang="en-IN" sz="1800" dirty="0">
                <a:solidFill>
                  <a:srgbClr val="000000"/>
                </a:solidFill>
                <a:latin typeface="Consolas" panose="020B0609020204030204" pitchFamily="49" charset="0"/>
              </a:rPr>
              <a:t>;</a:t>
            </a:r>
          </a:p>
          <a:p>
            <a:pPr marL="0" marR="0">
              <a:buNone/>
            </a:pPr>
            <a:r>
              <a:rPr lang="en-IN" sz="1800" dirty="0">
                <a:solidFill>
                  <a:srgbClr val="000000"/>
                </a:solidFill>
                <a:latin typeface="Consolas" panose="020B0609020204030204" pitchFamily="49" charset="0"/>
              </a:rPr>
              <a:t>	</a:t>
            </a:r>
            <a:r>
              <a:rPr lang="en-IN" sz="1800" dirty="0" err="1">
                <a:solidFill>
                  <a:srgbClr val="000000"/>
                </a:solidFill>
                <a:latin typeface="Consolas" panose="020B0609020204030204" pitchFamily="49" charset="0"/>
              </a:rPr>
              <a:t>System.</a:t>
            </a:r>
            <a:r>
              <a:rPr lang="en-IN" sz="1800" b="1" i="1" dirty="0" err="1">
                <a:solidFill>
                  <a:srgbClr val="0000C0"/>
                </a:solidFill>
                <a:latin typeface="Consolas" panose="020B0609020204030204" pitchFamily="49" charset="0"/>
              </a:rPr>
              <a:t>out</a:t>
            </a:r>
            <a:r>
              <a:rPr lang="en-IN" sz="1800" dirty="0" err="1">
                <a:solidFill>
                  <a:srgbClr val="000000"/>
                </a:solidFill>
                <a:latin typeface="Consolas" panose="020B0609020204030204" pitchFamily="49" charset="0"/>
              </a:rPr>
              <a:t>.println</a:t>
            </a:r>
            <a:r>
              <a:rPr lang="en-IN" sz="1800" dirty="0">
                <a:solidFill>
                  <a:srgbClr val="000000"/>
                </a:solidFill>
                <a:latin typeface="Consolas" panose="020B0609020204030204" pitchFamily="49" charset="0"/>
              </a:rPr>
              <a:t>(</a:t>
            </a:r>
            <a:r>
              <a:rPr lang="en-IN" sz="1800" dirty="0">
                <a:solidFill>
                  <a:srgbClr val="2A00FF"/>
                </a:solidFill>
                <a:latin typeface="Consolas" panose="020B0609020204030204" pitchFamily="49" charset="0"/>
              </a:rPr>
              <a:t>"String value: "</a:t>
            </a:r>
            <a:r>
              <a:rPr lang="en-IN" sz="1800" dirty="0">
                <a:solidFill>
                  <a:srgbClr val="000000"/>
                </a:solidFill>
                <a:latin typeface="Consolas" panose="020B0609020204030204" pitchFamily="49" charset="0"/>
              </a:rPr>
              <a:t> + </a:t>
            </a:r>
            <a:r>
              <a:rPr lang="en-IN" sz="1800" dirty="0" err="1">
                <a:solidFill>
                  <a:srgbClr val="6A3E3E"/>
                </a:solidFill>
                <a:latin typeface="Consolas" panose="020B0609020204030204" pitchFamily="49" charset="0"/>
              </a:rPr>
              <a:t>s</a:t>
            </a:r>
            <a:r>
              <a:rPr lang="en-IN" sz="1800" dirty="0" err="1">
                <a:solidFill>
                  <a:srgbClr val="000000"/>
                </a:solidFill>
                <a:latin typeface="Consolas" panose="020B0609020204030204" pitchFamily="49" charset="0"/>
              </a:rPr>
              <a:t>.toUpperCase</a:t>
            </a:r>
            <a:r>
              <a:rPr lang="en-IN" sz="1800" dirty="0">
                <a:solidFill>
                  <a:srgbClr val="000000"/>
                </a:solidFill>
                <a:latin typeface="Consolas" panose="020B0609020204030204" pitchFamily="49" charset="0"/>
              </a:rPr>
              <a:t>());</a:t>
            </a:r>
          </a:p>
          <a:p>
            <a:pPr marL="0" marR="0">
              <a:buNone/>
            </a:pPr>
            <a:r>
              <a:rPr lang="en-IN" sz="1800" dirty="0">
                <a:solidFill>
                  <a:srgbClr val="000000"/>
                </a:solidFill>
                <a:latin typeface="Consolas" panose="020B0609020204030204" pitchFamily="49" charset="0"/>
              </a:rPr>
              <a:t>} </a:t>
            </a:r>
            <a:r>
              <a:rPr lang="en-IN" sz="1800" b="1" dirty="0">
                <a:solidFill>
                  <a:srgbClr val="7F0055"/>
                </a:solidFill>
                <a:latin typeface="Consolas" panose="020B0609020204030204" pitchFamily="49" charset="0"/>
              </a:rPr>
              <a:t>else</a:t>
            </a:r>
            <a:r>
              <a:rPr lang="en-IN" sz="1800" dirty="0">
                <a:solidFill>
                  <a:srgbClr val="000000"/>
                </a:solidFill>
                <a:latin typeface="Consolas" panose="020B0609020204030204" pitchFamily="49" charset="0"/>
              </a:rPr>
              <a:t> {</a:t>
            </a:r>
          </a:p>
          <a:p>
            <a:pPr marL="0" marR="0">
              <a:buNone/>
            </a:pPr>
            <a:r>
              <a:rPr lang="en-IN" sz="1800" dirty="0">
                <a:solidFill>
                  <a:srgbClr val="000000"/>
                </a:solidFill>
                <a:latin typeface="Consolas" panose="020B0609020204030204" pitchFamily="49" charset="0"/>
              </a:rPr>
              <a:t>	</a:t>
            </a:r>
            <a:r>
              <a:rPr lang="en-IN" sz="1800" dirty="0" err="1">
                <a:solidFill>
                  <a:srgbClr val="000000"/>
                </a:solidFill>
                <a:latin typeface="Consolas" panose="020B0609020204030204" pitchFamily="49" charset="0"/>
              </a:rPr>
              <a:t>System.</a:t>
            </a:r>
            <a:r>
              <a:rPr lang="en-IN" sz="1800" b="1" i="1" dirty="0" err="1">
                <a:solidFill>
                  <a:srgbClr val="0000C0"/>
                </a:solidFill>
                <a:latin typeface="Consolas" panose="020B0609020204030204" pitchFamily="49" charset="0"/>
              </a:rPr>
              <a:t>out</a:t>
            </a:r>
            <a:r>
              <a:rPr lang="en-IN" sz="1800" dirty="0" err="1">
                <a:solidFill>
                  <a:srgbClr val="000000"/>
                </a:solidFill>
                <a:latin typeface="Consolas" panose="020B0609020204030204" pitchFamily="49" charset="0"/>
              </a:rPr>
              <a:t>.println</a:t>
            </a:r>
            <a:r>
              <a:rPr lang="en-IN" sz="1800" dirty="0">
                <a:solidFill>
                  <a:srgbClr val="000000"/>
                </a:solidFill>
                <a:latin typeface="Consolas" panose="020B0609020204030204" pitchFamily="49" charset="0"/>
              </a:rPr>
              <a:t>(</a:t>
            </a:r>
            <a:r>
              <a:rPr lang="en-IN" sz="1800" dirty="0">
                <a:solidFill>
                  <a:srgbClr val="2A00FF"/>
                </a:solidFill>
                <a:latin typeface="Consolas" panose="020B0609020204030204" pitchFamily="49" charset="0"/>
              </a:rPr>
              <a:t>"Not a string"</a:t>
            </a:r>
            <a:r>
              <a:rPr lang="en-IN" sz="1800" dirty="0">
                <a:solidFill>
                  <a:srgbClr val="000000"/>
                </a:solidFill>
                <a:latin typeface="Consolas" panose="020B0609020204030204" pitchFamily="49" charset="0"/>
              </a:rPr>
              <a:t>);</a:t>
            </a:r>
          </a:p>
          <a:p>
            <a:pPr marL="0" marR="0" indent="0">
              <a:buNone/>
            </a:pPr>
            <a:r>
              <a:rPr lang="en-IN" sz="1800" dirty="0">
                <a:solidFill>
                  <a:srgbClr val="000000"/>
                </a:solidFill>
                <a:latin typeface="Consolas" panose="020B0609020204030204" pitchFamily="49" charset="0"/>
              </a:rPr>
              <a:t>}</a:t>
            </a:r>
          </a:p>
          <a:p>
            <a:pPr marL="0" indent="0">
              <a:buNone/>
            </a:pPr>
            <a:endParaRPr lang="en-US" sz="1800" dirty="0"/>
          </a:p>
          <a:p>
            <a:endParaRPr lang="en-US" sz="1800" dirty="0"/>
          </a:p>
        </p:txBody>
      </p:sp>
      <p:sp>
        <p:nvSpPr>
          <p:cNvPr id="4" name="Slide Number Placeholder 3">
            <a:extLst>
              <a:ext uri="{FF2B5EF4-FFF2-40B4-BE49-F238E27FC236}">
                <a16:creationId xmlns:a16="http://schemas.microsoft.com/office/drawing/2014/main" id="{63E47442-B09F-0CC3-5623-87A4345EA292}"/>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
        <p:nvSpPr>
          <p:cNvPr id="5" name="Rectangle 4">
            <a:extLst>
              <a:ext uri="{FF2B5EF4-FFF2-40B4-BE49-F238E27FC236}">
                <a16:creationId xmlns:a16="http://schemas.microsoft.com/office/drawing/2014/main" id="{0531C17E-8FC7-1763-29E9-56DF83E348B7}"/>
              </a:ext>
            </a:extLst>
          </p:cNvPr>
          <p:cNvSpPr/>
          <p:nvPr/>
        </p:nvSpPr>
        <p:spPr>
          <a:xfrm>
            <a:off x="4873487" y="4522305"/>
            <a:ext cx="6102626" cy="1470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a:buNone/>
            </a:pPr>
            <a:r>
              <a:rPr lang="en-IN" sz="1800" b="1" dirty="0">
                <a:solidFill>
                  <a:schemeClr val="bg1"/>
                </a:solidFill>
                <a:effectLst/>
                <a:latin typeface="Consolas" panose="020B0609020204030204" pitchFamily="49" charset="0"/>
              </a:rPr>
              <a:t>if</a:t>
            </a:r>
            <a:r>
              <a:rPr lang="en-IN" sz="1800" dirty="0">
                <a:solidFill>
                  <a:schemeClr val="bg1"/>
                </a:solidFill>
                <a:effectLst/>
                <a:latin typeface="Consolas" panose="020B0609020204030204" pitchFamily="49" charset="0"/>
              </a:rPr>
              <a:t> (</a:t>
            </a:r>
            <a:r>
              <a:rPr lang="en-IN" sz="1800" dirty="0" err="1">
                <a:solidFill>
                  <a:schemeClr val="bg1"/>
                </a:solidFill>
                <a:effectLst/>
                <a:latin typeface="Consolas" panose="020B0609020204030204" pitchFamily="49" charset="0"/>
              </a:rPr>
              <a:t>obj</a:t>
            </a:r>
            <a:r>
              <a:rPr lang="en-IN" sz="1800" dirty="0">
                <a:solidFill>
                  <a:schemeClr val="bg1"/>
                </a:solidFill>
                <a:effectLst/>
                <a:latin typeface="Consolas" panose="020B0609020204030204" pitchFamily="49" charset="0"/>
              </a:rPr>
              <a:t> </a:t>
            </a:r>
            <a:r>
              <a:rPr lang="en-IN" sz="1800" b="1" dirty="0" err="1">
                <a:solidFill>
                  <a:schemeClr val="bg1"/>
                </a:solidFill>
                <a:effectLst/>
                <a:latin typeface="Consolas" panose="020B0609020204030204" pitchFamily="49" charset="0"/>
              </a:rPr>
              <a:t>instanceof</a:t>
            </a:r>
            <a:r>
              <a:rPr lang="en-IN" b="1" dirty="0">
                <a:solidFill>
                  <a:schemeClr val="bg1"/>
                </a:solidFill>
                <a:latin typeface="Consolas" panose="020B0609020204030204" pitchFamily="49" charset="0"/>
              </a:rPr>
              <a:t> String s</a:t>
            </a:r>
            <a:r>
              <a:rPr lang="en-IN" sz="1800" dirty="0">
                <a:solidFill>
                  <a:schemeClr val="bg1"/>
                </a:solidFill>
                <a:effectLst/>
                <a:latin typeface="Consolas" panose="020B0609020204030204" pitchFamily="49" charset="0"/>
              </a:rPr>
              <a:t>) {</a:t>
            </a:r>
          </a:p>
          <a:p>
            <a:pPr marL="0" marR="0">
              <a:buNone/>
            </a:pPr>
            <a:r>
              <a:rPr lang="en-IN" sz="1800" dirty="0">
                <a:solidFill>
                  <a:schemeClr val="bg1"/>
                </a:solidFill>
                <a:effectLst/>
                <a:latin typeface="Consolas" panose="020B0609020204030204" pitchFamily="49" charset="0"/>
              </a:rPr>
              <a:t>	System.</a:t>
            </a:r>
            <a:r>
              <a:rPr lang="en-IN" sz="1800" b="1" i="1" dirty="0">
                <a:solidFill>
                  <a:schemeClr val="bg1"/>
                </a:solidFill>
                <a:effectLst/>
                <a:latin typeface="Consolas" panose="020B0609020204030204" pitchFamily="49" charset="0"/>
              </a:rPr>
              <a:t>out</a:t>
            </a:r>
            <a:r>
              <a:rPr lang="en-IN" sz="1800" dirty="0">
                <a:solidFill>
                  <a:schemeClr val="bg1"/>
                </a:solidFill>
                <a:effectLst/>
                <a:latin typeface="Consolas" panose="020B0609020204030204" pitchFamily="49" charset="0"/>
              </a:rPr>
              <a:t>.println("String value: " + 	</a:t>
            </a:r>
            <a:r>
              <a:rPr lang="en-IN" sz="1800" dirty="0" err="1">
                <a:solidFill>
                  <a:schemeClr val="bg1"/>
                </a:solidFill>
                <a:effectLst/>
                <a:latin typeface="Consolas" panose="020B0609020204030204" pitchFamily="49" charset="0"/>
              </a:rPr>
              <a:t>s.toUpperCase</a:t>
            </a:r>
            <a:r>
              <a:rPr lang="en-IN" sz="1800" dirty="0">
                <a:solidFill>
                  <a:schemeClr val="bg1"/>
                </a:solidFill>
                <a:effectLst/>
                <a:latin typeface="Consolas" panose="020B0609020204030204" pitchFamily="49" charset="0"/>
              </a:rPr>
              <a:t>());</a:t>
            </a:r>
          </a:p>
          <a:p>
            <a:pPr marL="0" marR="0"/>
            <a:r>
              <a:rPr lang="en-IN" sz="1800" dirty="0">
                <a:solidFill>
                  <a:schemeClr val="bg1"/>
                </a:solidFill>
                <a:effectLst/>
                <a:latin typeface="Consolas" panose="020B0609020204030204" pitchFamily="49" charset="0"/>
              </a:rPr>
              <a:t>}</a:t>
            </a:r>
          </a:p>
          <a:p>
            <a:pPr algn="ctr"/>
            <a:endParaRPr lang="en-IN" dirty="0"/>
          </a:p>
        </p:txBody>
      </p:sp>
    </p:spTree>
    <p:extLst>
      <p:ext uri="{BB962C8B-B14F-4D97-AF65-F5344CB8AC3E}">
        <p14:creationId xmlns:p14="http://schemas.microsoft.com/office/powerpoint/2010/main" val="3982918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A3A2-4DC9-C9AA-BA65-0BF1F47D0FF3}"/>
              </a:ext>
            </a:extLst>
          </p:cNvPr>
          <p:cNvSpPr>
            <a:spLocks noGrp="1"/>
          </p:cNvSpPr>
          <p:nvPr>
            <p:ph type="title"/>
          </p:nvPr>
        </p:nvSpPr>
        <p:spPr/>
        <p:txBody>
          <a:bodyPr/>
          <a:lstStyle/>
          <a:p>
            <a:r>
              <a:rPr lang="en-IN" b="1" dirty="0"/>
              <a:t>Pattern matching with primitive data types</a:t>
            </a:r>
            <a:endParaRPr lang="en-US" dirty="0"/>
          </a:p>
        </p:txBody>
      </p:sp>
      <p:sp>
        <p:nvSpPr>
          <p:cNvPr id="3" name="Content Placeholder 2">
            <a:extLst>
              <a:ext uri="{FF2B5EF4-FFF2-40B4-BE49-F238E27FC236}">
                <a16:creationId xmlns:a16="http://schemas.microsoft.com/office/drawing/2014/main" id="{ED028831-B660-720A-FE12-0885DD050487}"/>
              </a:ext>
            </a:extLst>
          </p:cNvPr>
          <p:cNvSpPr>
            <a:spLocks noGrp="1"/>
          </p:cNvSpPr>
          <p:nvPr>
            <p:ph idx="1"/>
          </p:nvPr>
        </p:nvSpPr>
        <p:spPr/>
        <p:txBody>
          <a:bodyPr>
            <a:normAutofit fontScale="85000" lnSpcReduction="20000"/>
          </a:bodyPr>
          <a:lstStyle/>
          <a:p>
            <a:pPr marL="0" marR="0">
              <a:buNone/>
            </a:pPr>
            <a:endParaRPr lang="en-IN" b="1" dirty="0">
              <a:solidFill>
                <a:srgbClr val="7F0055"/>
              </a:solidFill>
              <a:latin typeface="Consolas" panose="020B0609020204030204" pitchFamily="49" charset="0"/>
            </a:endParaRPr>
          </a:p>
          <a:p>
            <a:pPr marL="102870" indent="-285750"/>
            <a:r>
              <a:rPr lang="en-IN" sz="2400" dirty="0"/>
              <a:t>Introduced</a:t>
            </a:r>
            <a:r>
              <a:rPr lang="en-IN" sz="2600" dirty="0"/>
              <a:t> in </a:t>
            </a:r>
            <a:r>
              <a:rPr lang="en-IN" sz="2600" b="1" dirty="0"/>
              <a:t>Java 25</a:t>
            </a:r>
            <a:r>
              <a:rPr lang="en-IN" sz="2600" dirty="0"/>
              <a:t> (standard)</a:t>
            </a:r>
            <a:endParaRPr lang="en-IN" sz="2600" b="1" dirty="0">
              <a:solidFill>
                <a:srgbClr val="7F0055"/>
              </a:solidFill>
            </a:endParaRPr>
          </a:p>
          <a:p>
            <a:pPr marL="0" marR="0">
              <a:buNone/>
            </a:pPr>
            <a:endParaRPr lang="en-IN" b="1" dirty="0">
              <a:solidFill>
                <a:srgbClr val="7F0055"/>
              </a:solidFill>
              <a:latin typeface="Consolas" panose="020B0609020204030204" pitchFamily="49" charset="0"/>
            </a:endParaRPr>
          </a:p>
          <a:p>
            <a:pPr marL="0" marR="0">
              <a:buNone/>
            </a:pPr>
            <a:r>
              <a:rPr lang="en-IN" b="1" dirty="0">
                <a:solidFill>
                  <a:srgbClr val="7F0055"/>
                </a:solidFill>
                <a:latin typeface="Consolas" panose="020B0609020204030204" pitchFamily="49" charset="0"/>
              </a:rPr>
              <a:t>if</a:t>
            </a:r>
            <a:r>
              <a:rPr lang="en-IN" dirty="0">
                <a:solidFill>
                  <a:srgbClr val="000000"/>
                </a:solidFill>
                <a:latin typeface="Consolas" panose="020B0609020204030204" pitchFamily="49" charset="0"/>
              </a:rPr>
              <a:t> (</a:t>
            </a:r>
            <a:r>
              <a:rPr lang="en-IN" dirty="0" err="1">
                <a:solidFill>
                  <a:srgbClr val="6A3E3E"/>
                </a:solidFill>
                <a:latin typeface="Consolas" panose="020B0609020204030204" pitchFamily="49" charset="0"/>
              </a:rPr>
              <a:t>obj</a:t>
            </a:r>
            <a:r>
              <a:rPr lang="en-IN" dirty="0">
                <a:solidFill>
                  <a:srgbClr val="000000"/>
                </a:solidFill>
                <a:latin typeface="Consolas" panose="020B0609020204030204" pitchFamily="49" charset="0"/>
              </a:rPr>
              <a:t> </a:t>
            </a:r>
            <a:r>
              <a:rPr lang="en-IN" b="1" dirty="0" err="1">
                <a:solidFill>
                  <a:srgbClr val="7F0055"/>
                </a:solidFill>
                <a:latin typeface="Consolas" panose="020B0609020204030204" pitchFamily="49" charset="0"/>
              </a:rPr>
              <a:t>instanceof</a:t>
            </a:r>
            <a:r>
              <a:rPr lang="en-IN" dirty="0">
                <a:solidFill>
                  <a:srgbClr val="000000"/>
                </a:solidFill>
                <a:latin typeface="Consolas" panose="020B0609020204030204" pitchFamily="49" charset="0"/>
              </a:rPr>
              <a:t> </a:t>
            </a:r>
            <a:r>
              <a:rPr lang="en-IN" b="1" dirty="0">
                <a:solidFill>
                  <a:srgbClr val="7F0055"/>
                </a:solidFill>
                <a:latin typeface="Consolas" panose="020B0609020204030204" pitchFamily="49" charset="0"/>
              </a:rPr>
              <a:t>int</a:t>
            </a:r>
            <a:r>
              <a:rPr lang="en-IN" dirty="0">
                <a:solidFill>
                  <a:srgbClr val="000000"/>
                </a:solidFill>
                <a:latin typeface="Consolas" panose="020B0609020204030204" pitchFamily="49" charset="0"/>
              </a:rPr>
              <a:t> </a:t>
            </a:r>
            <a:r>
              <a:rPr lang="en-IN" dirty="0" err="1">
                <a:solidFill>
                  <a:srgbClr val="6A3E3E"/>
                </a:solidFill>
                <a:latin typeface="Consolas" panose="020B0609020204030204" pitchFamily="49" charset="0"/>
              </a:rPr>
              <a:t>i</a:t>
            </a:r>
            <a:r>
              <a:rPr lang="en-IN" dirty="0">
                <a:solidFill>
                  <a:srgbClr val="000000"/>
                </a:solidFill>
                <a:latin typeface="Consolas" panose="020B0609020204030204" pitchFamily="49" charset="0"/>
              </a:rPr>
              <a:t>) {</a:t>
            </a:r>
          </a:p>
          <a:p>
            <a:pPr marL="0" marR="0">
              <a:buNone/>
            </a:pPr>
            <a:r>
              <a:rPr lang="en-IN" dirty="0">
                <a:solidFill>
                  <a:srgbClr val="000000"/>
                </a:solidFill>
                <a:latin typeface="Consolas" panose="020B0609020204030204" pitchFamily="49" charset="0"/>
              </a:rPr>
              <a:t>	</a:t>
            </a:r>
            <a:r>
              <a:rPr lang="en-IN" dirty="0" err="1">
                <a:solidFill>
                  <a:srgbClr val="000000"/>
                </a:solidFill>
                <a:latin typeface="Consolas" panose="020B0609020204030204" pitchFamily="49" charset="0"/>
              </a:rPr>
              <a:t>System.</a:t>
            </a:r>
            <a:r>
              <a:rPr lang="en-IN" b="1" i="1" dirty="0" err="1">
                <a:solidFill>
                  <a:srgbClr val="0000C0"/>
                </a:solidFill>
                <a:latin typeface="Consolas" panose="020B0609020204030204" pitchFamily="49" charset="0"/>
              </a:rPr>
              <a:t>out</a:t>
            </a:r>
            <a:r>
              <a:rPr lang="en-IN" dirty="0" err="1">
                <a:solidFill>
                  <a:srgbClr val="000000"/>
                </a:solidFill>
                <a:latin typeface="Consolas" panose="020B0609020204030204" pitchFamily="49" charset="0"/>
              </a:rPr>
              <a:t>.println</a:t>
            </a:r>
            <a:r>
              <a:rPr lang="en-IN" dirty="0">
                <a:solidFill>
                  <a:srgbClr val="000000"/>
                </a:solidFill>
                <a:latin typeface="Consolas" panose="020B0609020204030204" pitchFamily="49" charset="0"/>
              </a:rPr>
              <a:t>(</a:t>
            </a:r>
            <a:r>
              <a:rPr lang="en-IN" dirty="0">
                <a:solidFill>
                  <a:srgbClr val="2A00FF"/>
                </a:solidFill>
                <a:latin typeface="Consolas" panose="020B0609020204030204" pitchFamily="49" charset="0"/>
              </a:rPr>
              <a:t>"Primitive int: "</a:t>
            </a:r>
            <a:r>
              <a:rPr lang="en-IN" dirty="0">
                <a:solidFill>
                  <a:srgbClr val="000000"/>
                </a:solidFill>
                <a:latin typeface="Consolas" panose="020B0609020204030204" pitchFamily="49" charset="0"/>
              </a:rPr>
              <a:t> + </a:t>
            </a:r>
            <a:r>
              <a:rPr lang="en-IN" dirty="0" err="1">
                <a:solidFill>
                  <a:srgbClr val="6A3E3E"/>
                </a:solidFill>
                <a:latin typeface="Consolas" panose="020B0609020204030204" pitchFamily="49" charset="0"/>
              </a:rPr>
              <a:t>i</a:t>
            </a:r>
            <a:r>
              <a:rPr lang="en-IN" dirty="0">
                <a:solidFill>
                  <a:srgbClr val="000000"/>
                </a:solidFill>
                <a:latin typeface="Consolas" panose="020B0609020204030204" pitchFamily="49" charset="0"/>
              </a:rPr>
              <a:t>);</a:t>
            </a:r>
          </a:p>
          <a:p>
            <a:pPr marL="0" marR="0">
              <a:buNone/>
            </a:pPr>
            <a:r>
              <a:rPr lang="en-IN" dirty="0">
                <a:solidFill>
                  <a:srgbClr val="000000"/>
                </a:solidFill>
                <a:latin typeface="Consolas" panose="020B0609020204030204" pitchFamily="49" charset="0"/>
              </a:rPr>
              <a:t>} </a:t>
            </a:r>
            <a:r>
              <a:rPr lang="en-IN" b="1" dirty="0">
                <a:solidFill>
                  <a:srgbClr val="7F0055"/>
                </a:solidFill>
                <a:latin typeface="Consolas" panose="020B0609020204030204" pitchFamily="49" charset="0"/>
              </a:rPr>
              <a:t>else</a:t>
            </a:r>
            <a:r>
              <a:rPr lang="en-IN" dirty="0">
                <a:solidFill>
                  <a:srgbClr val="000000"/>
                </a:solidFill>
                <a:latin typeface="Consolas" panose="020B0609020204030204" pitchFamily="49" charset="0"/>
              </a:rPr>
              <a:t> </a:t>
            </a:r>
            <a:r>
              <a:rPr lang="en-IN" b="1" dirty="0">
                <a:solidFill>
                  <a:srgbClr val="7F0055"/>
                </a:solidFill>
                <a:latin typeface="Consolas" panose="020B0609020204030204" pitchFamily="49" charset="0"/>
              </a:rPr>
              <a:t>if</a:t>
            </a:r>
            <a:r>
              <a:rPr lang="en-IN" dirty="0">
                <a:solidFill>
                  <a:srgbClr val="000000"/>
                </a:solidFill>
                <a:latin typeface="Consolas" panose="020B0609020204030204" pitchFamily="49" charset="0"/>
              </a:rPr>
              <a:t> (</a:t>
            </a:r>
            <a:r>
              <a:rPr lang="en-IN" dirty="0" err="1">
                <a:solidFill>
                  <a:srgbClr val="6A3E3E"/>
                </a:solidFill>
                <a:latin typeface="Consolas" panose="020B0609020204030204" pitchFamily="49" charset="0"/>
              </a:rPr>
              <a:t>obj</a:t>
            </a:r>
            <a:r>
              <a:rPr lang="en-IN" dirty="0">
                <a:solidFill>
                  <a:srgbClr val="000000"/>
                </a:solidFill>
                <a:latin typeface="Consolas" panose="020B0609020204030204" pitchFamily="49" charset="0"/>
              </a:rPr>
              <a:t> </a:t>
            </a:r>
            <a:r>
              <a:rPr lang="en-IN" b="1" dirty="0" err="1">
                <a:solidFill>
                  <a:srgbClr val="7F0055"/>
                </a:solidFill>
                <a:latin typeface="Consolas" panose="020B0609020204030204" pitchFamily="49" charset="0"/>
              </a:rPr>
              <a:t>instanceof</a:t>
            </a:r>
            <a:r>
              <a:rPr lang="en-IN" dirty="0">
                <a:solidFill>
                  <a:srgbClr val="000000"/>
                </a:solidFill>
                <a:latin typeface="Consolas" panose="020B0609020204030204" pitchFamily="49" charset="0"/>
              </a:rPr>
              <a:t> </a:t>
            </a:r>
            <a:r>
              <a:rPr lang="en-IN" b="1" dirty="0">
                <a:solidFill>
                  <a:srgbClr val="7F0055"/>
                </a:solidFill>
                <a:latin typeface="Consolas" panose="020B0609020204030204" pitchFamily="49" charset="0"/>
              </a:rPr>
              <a:t>double</a:t>
            </a:r>
            <a:r>
              <a:rPr lang="en-IN" dirty="0">
                <a:solidFill>
                  <a:srgbClr val="000000"/>
                </a:solidFill>
                <a:latin typeface="Consolas" panose="020B0609020204030204" pitchFamily="49" charset="0"/>
              </a:rPr>
              <a:t> </a:t>
            </a:r>
            <a:r>
              <a:rPr lang="en-IN" dirty="0">
                <a:solidFill>
                  <a:srgbClr val="6A3E3E"/>
                </a:solidFill>
                <a:latin typeface="Consolas" panose="020B0609020204030204" pitchFamily="49" charset="0"/>
              </a:rPr>
              <a:t>d</a:t>
            </a:r>
            <a:r>
              <a:rPr lang="en-IN" dirty="0">
                <a:solidFill>
                  <a:srgbClr val="000000"/>
                </a:solidFill>
                <a:latin typeface="Consolas" panose="020B0609020204030204" pitchFamily="49" charset="0"/>
              </a:rPr>
              <a:t>) {</a:t>
            </a:r>
          </a:p>
          <a:p>
            <a:pPr marL="0" marR="0">
              <a:buNone/>
            </a:pPr>
            <a:r>
              <a:rPr lang="en-IN" dirty="0">
                <a:solidFill>
                  <a:srgbClr val="000000"/>
                </a:solidFill>
                <a:latin typeface="Consolas" panose="020B0609020204030204" pitchFamily="49" charset="0"/>
              </a:rPr>
              <a:t>	</a:t>
            </a:r>
            <a:r>
              <a:rPr lang="en-IN" dirty="0" err="1">
                <a:solidFill>
                  <a:srgbClr val="000000"/>
                </a:solidFill>
                <a:latin typeface="Consolas" panose="020B0609020204030204" pitchFamily="49" charset="0"/>
              </a:rPr>
              <a:t>System.</a:t>
            </a:r>
            <a:r>
              <a:rPr lang="en-IN" b="1" i="1" dirty="0" err="1">
                <a:solidFill>
                  <a:srgbClr val="0000C0"/>
                </a:solidFill>
                <a:latin typeface="Consolas" panose="020B0609020204030204" pitchFamily="49" charset="0"/>
              </a:rPr>
              <a:t>out</a:t>
            </a:r>
            <a:r>
              <a:rPr lang="en-IN" dirty="0" err="1">
                <a:solidFill>
                  <a:srgbClr val="000000"/>
                </a:solidFill>
                <a:latin typeface="Consolas" panose="020B0609020204030204" pitchFamily="49" charset="0"/>
              </a:rPr>
              <a:t>.println</a:t>
            </a:r>
            <a:r>
              <a:rPr lang="en-IN" dirty="0">
                <a:solidFill>
                  <a:srgbClr val="000000"/>
                </a:solidFill>
                <a:latin typeface="Consolas" panose="020B0609020204030204" pitchFamily="49" charset="0"/>
              </a:rPr>
              <a:t>(</a:t>
            </a:r>
            <a:r>
              <a:rPr lang="en-IN" dirty="0">
                <a:solidFill>
                  <a:srgbClr val="2A00FF"/>
                </a:solidFill>
                <a:latin typeface="Consolas" panose="020B0609020204030204" pitchFamily="49" charset="0"/>
              </a:rPr>
              <a:t>"Primitive double: "</a:t>
            </a:r>
            <a:r>
              <a:rPr lang="en-IN" dirty="0">
                <a:solidFill>
                  <a:srgbClr val="000000"/>
                </a:solidFill>
                <a:latin typeface="Consolas" panose="020B0609020204030204" pitchFamily="49" charset="0"/>
              </a:rPr>
              <a:t> + </a:t>
            </a:r>
            <a:r>
              <a:rPr lang="en-IN" dirty="0">
                <a:solidFill>
                  <a:srgbClr val="6A3E3E"/>
                </a:solidFill>
                <a:latin typeface="Consolas" panose="020B0609020204030204" pitchFamily="49" charset="0"/>
              </a:rPr>
              <a:t>d</a:t>
            </a:r>
            <a:r>
              <a:rPr lang="en-IN" dirty="0">
                <a:solidFill>
                  <a:srgbClr val="000000"/>
                </a:solidFill>
                <a:latin typeface="Consolas" panose="020B0609020204030204" pitchFamily="49" charset="0"/>
              </a:rPr>
              <a:t>);</a:t>
            </a:r>
          </a:p>
          <a:p>
            <a:pPr marL="0" marR="0" indent="0">
              <a:buNone/>
            </a:pPr>
            <a:r>
              <a:rPr lang="en-IN" dirty="0">
                <a:solidFill>
                  <a:srgbClr val="000000"/>
                </a:solidFill>
                <a:latin typeface="Consolas" panose="020B0609020204030204" pitchFamily="49" charset="0"/>
              </a:rPr>
              <a:t>}</a:t>
            </a:r>
            <a:endParaRPr lang="en-US" sz="2400" dirty="0"/>
          </a:p>
          <a:p>
            <a:r>
              <a:rPr lang="en-US" sz="2400" dirty="0"/>
              <a:t>When using primitive type patterns, the value must be exactly convertible to the target primitive type for the pattern to match</a:t>
            </a:r>
          </a:p>
          <a:p>
            <a:r>
              <a:rPr lang="en-US" sz="2400" dirty="0"/>
              <a:t>This feature enhances type safety by allowing the compiler to enforce type compatibility during pattern matching, reducing the need for explicit and potentially unsafe casts.</a:t>
            </a:r>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5AF42C8F-9A59-EF0C-3E2D-31AD92298057}"/>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3631551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D30F0-E3C2-4F92-27D2-19BAD2F788D9}"/>
              </a:ext>
            </a:extLst>
          </p:cNvPr>
          <p:cNvSpPr>
            <a:spLocks noGrp="1"/>
          </p:cNvSpPr>
          <p:nvPr>
            <p:ph type="title"/>
          </p:nvPr>
        </p:nvSpPr>
        <p:spPr/>
        <p:txBody>
          <a:bodyPr/>
          <a:lstStyle/>
          <a:p>
            <a:r>
              <a:rPr lang="en-IN" b="1" dirty="0"/>
              <a:t>Pattern matching in records</a:t>
            </a:r>
            <a:br>
              <a:rPr lang="en-IN" b="1" dirty="0"/>
            </a:br>
            <a:endParaRPr lang="en-US" dirty="0"/>
          </a:p>
        </p:txBody>
      </p:sp>
      <p:sp>
        <p:nvSpPr>
          <p:cNvPr id="3" name="Content Placeholder 2">
            <a:extLst>
              <a:ext uri="{FF2B5EF4-FFF2-40B4-BE49-F238E27FC236}">
                <a16:creationId xmlns:a16="http://schemas.microsoft.com/office/drawing/2014/main" id="{A5387A74-DC10-286A-CC73-327F7D62A9C9}"/>
              </a:ext>
            </a:extLst>
          </p:cNvPr>
          <p:cNvSpPr>
            <a:spLocks noGrp="1"/>
          </p:cNvSpPr>
          <p:nvPr>
            <p:ph idx="1"/>
          </p:nvPr>
        </p:nvSpPr>
        <p:spPr/>
        <p:txBody>
          <a:bodyPr>
            <a:normAutofit/>
          </a:bodyPr>
          <a:lstStyle/>
          <a:p>
            <a:pPr marL="0" marR="0">
              <a:lnSpc>
                <a:spcPct val="150000"/>
              </a:lnSpc>
              <a:buNone/>
            </a:pPr>
            <a:endParaRPr lang="en-IN" b="1" dirty="0">
              <a:solidFill>
                <a:srgbClr val="7F0055"/>
              </a:solidFill>
            </a:endParaRPr>
          </a:p>
          <a:p>
            <a:pPr marL="102870" indent="-285750">
              <a:lnSpc>
                <a:spcPct val="150000"/>
              </a:lnSpc>
            </a:pPr>
            <a:r>
              <a:rPr lang="en-IN" dirty="0"/>
              <a:t>Introduced in </a:t>
            </a:r>
            <a:r>
              <a:rPr lang="en-IN" b="1" dirty="0"/>
              <a:t>Java 21</a:t>
            </a:r>
            <a:r>
              <a:rPr lang="en-IN" dirty="0"/>
              <a:t> (standard)</a:t>
            </a:r>
            <a:endParaRPr lang="en-US" dirty="0">
              <a:solidFill>
                <a:srgbClr val="001D35"/>
              </a:solidFill>
            </a:endParaRPr>
          </a:p>
          <a:p>
            <a:pPr>
              <a:lnSpc>
                <a:spcPct val="150000"/>
              </a:lnSpc>
            </a:pPr>
            <a:r>
              <a:rPr lang="en-US" dirty="0">
                <a:solidFill>
                  <a:srgbClr val="001D35"/>
                </a:solidFill>
              </a:rPr>
              <a:t>Record patterns in Java, introduced as a stable feature in Java 21, enhance pattern matching by allowing the deconstruction of record objects. This feature simplifies the extraction and use of data stored within records, making code more concise and readable.</a:t>
            </a:r>
          </a:p>
          <a:p>
            <a:pPr marL="0" marR="0" indent="0">
              <a:lnSpc>
                <a:spcPct val="150000"/>
              </a:lnSpc>
              <a:buNone/>
            </a:pPr>
            <a:endParaRPr lang="en-US" dirty="0">
              <a:solidFill>
                <a:srgbClr val="000000"/>
              </a:solidFill>
            </a:endParaRPr>
          </a:p>
          <a:p>
            <a:pPr marL="0" indent="0">
              <a:lnSpc>
                <a:spcPct val="150000"/>
              </a:lnSpc>
              <a:buNone/>
            </a:pPr>
            <a:endParaRPr lang="en-US" dirty="0"/>
          </a:p>
          <a:p>
            <a:pPr>
              <a:lnSpc>
                <a:spcPct val="150000"/>
              </a:lnSpc>
            </a:pPr>
            <a:endParaRPr lang="en-US" dirty="0"/>
          </a:p>
        </p:txBody>
      </p:sp>
      <p:sp>
        <p:nvSpPr>
          <p:cNvPr id="4" name="Slide Number Placeholder 3">
            <a:extLst>
              <a:ext uri="{FF2B5EF4-FFF2-40B4-BE49-F238E27FC236}">
                <a16:creationId xmlns:a16="http://schemas.microsoft.com/office/drawing/2014/main" id="{DF0A87E3-DE4B-EC86-F5C7-6E5CEE2D9D85}"/>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1917872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8C47E-795F-9720-4A56-3381BA317F55}"/>
              </a:ext>
            </a:extLst>
          </p:cNvPr>
          <p:cNvSpPr>
            <a:spLocks noGrp="1"/>
          </p:cNvSpPr>
          <p:nvPr>
            <p:ph type="title"/>
          </p:nvPr>
        </p:nvSpPr>
        <p:spPr/>
        <p:txBody>
          <a:bodyPr/>
          <a:lstStyle/>
          <a:p>
            <a:r>
              <a:rPr lang="en-IN" b="1" dirty="0"/>
              <a:t>Pattern matching in records</a:t>
            </a:r>
            <a:br>
              <a:rPr lang="en-IN" b="1" dirty="0"/>
            </a:br>
            <a:endParaRPr lang="en-US" dirty="0"/>
          </a:p>
        </p:txBody>
      </p:sp>
      <p:sp>
        <p:nvSpPr>
          <p:cNvPr id="3" name="Content Placeholder 2">
            <a:extLst>
              <a:ext uri="{FF2B5EF4-FFF2-40B4-BE49-F238E27FC236}">
                <a16:creationId xmlns:a16="http://schemas.microsoft.com/office/drawing/2014/main" id="{37C7258D-A23C-575C-E9CD-4F53D1D3C58A}"/>
              </a:ext>
            </a:extLst>
          </p:cNvPr>
          <p:cNvSpPr>
            <a:spLocks noGrp="1"/>
          </p:cNvSpPr>
          <p:nvPr>
            <p:ph idx="1"/>
          </p:nvPr>
        </p:nvSpPr>
        <p:spPr/>
        <p:txBody>
          <a:bodyPr/>
          <a:lstStyle/>
          <a:p>
            <a:r>
              <a:rPr lang="en-IN" b="1" dirty="0"/>
              <a:t>Complete deconstruction:</a:t>
            </a:r>
            <a:br>
              <a:rPr lang="en-IN" dirty="0"/>
            </a:br>
            <a:r>
              <a:rPr lang="en-IN" dirty="0"/>
              <a:t>The first condition extracts and names all components of a composite object, printing every available value.</a:t>
            </a:r>
          </a:p>
          <a:p>
            <a:endParaRPr lang="en-IN" dirty="0"/>
          </a:p>
          <a:p>
            <a:r>
              <a:rPr lang="en-IN" b="1" dirty="0"/>
              <a:t>Partial extraction with unnamed patterns:</a:t>
            </a:r>
            <a:br>
              <a:rPr lang="en-IN" dirty="0"/>
            </a:br>
            <a:r>
              <a:rPr lang="en-IN" dirty="0"/>
              <a:t>The second condition shows how the underscore _ lets you ignore components that are not relevant to the current logic while still accessing others.</a:t>
            </a:r>
          </a:p>
          <a:p>
            <a:endParaRPr lang="en-IN" dirty="0"/>
          </a:p>
          <a:p>
            <a:r>
              <a:rPr lang="en-IN" b="1" dirty="0"/>
              <a:t>Nested selective extraction:</a:t>
            </a:r>
            <a:br>
              <a:rPr lang="en-IN" dirty="0"/>
            </a:br>
            <a:r>
              <a:rPr lang="en-IN" dirty="0"/>
              <a:t>The final condition performs pattern matching within a nested structure, pulling out only one specific field while ignoring the rest. This shows how patterns can focus on just the data you need, even deep inside complex records.</a:t>
            </a:r>
          </a:p>
          <a:p>
            <a:endParaRPr lang="en-US" dirty="0"/>
          </a:p>
        </p:txBody>
      </p:sp>
      <p:sp>
        <p:nvSpPr>
          <p:cNvPr id="4" name="Slide Number Placeholder 3">
            <a:extLst>
              <a:ext uri="{FF2B5EF4-FFF2-40B4-BE49-F238E27FC236}">
                <a16:creationId xmlns:a16="http://schemas.microsoft.com/office/drawing/2014/main" id="{D3C4DF32-37D3-0D28-0441-E560EE48BF71}"/>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Tree>
    <p:extLst>
      <p:ext uri="{BB962C8B-B14F-4D97-AF65-F5344CB8AC3E}">
        <p14:creationId xmlns:p14="http://schemas.microsoft.com/office/powerpoint/2010/main" val="1250787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1054C-5582-42E1-D3C9-C594C7B49592}"/>
              </a:ext>
            </a:extLst>
          </p:cNvPr>
          <p:cNvSpPr>
            <a:spLocks noGrp="1"/>
          </p:cNvSpPr>
          <p:nvPr>
            <p:ph type="title"/>
          </p:nvPr>
        </p:nvSpPr>
        <p:spPr/>
        <p:txBody>
          <a:bodyPr/>
          <a:lstStyle/>
          <a:p>
            <a:r>
              <a:rPr lang="en-IN" b="1" dirty="0"/>
              <a:t>Enhanced switch Expressions</a:t>
            </a:r>
            <a:br>
              <a:rPr lang="en-IN" b="1" dirty="0"/>
            </a:br>
            <a:endParaRPr lang="en-US" dirty="0"/>
          </a:p>
        </p:txBody>
      </p:sp>
      <p:sp>
        <p:nvSpPr>
          <p:cNvPr id="3" name="Content Placeholder 2">
            <a:extLst>
              <a:ext uri="{FF2B5EF4-FFF2-40B4-BE49-F238E27FC236}">
                <a16:creationId xmlns:a16="http://schemas.microsoft.com/office/drawing/2014/main" id="{81B26DA0-740D-1E65-466D-966A2E9EFD2C}"/>
              </a:ext>
            </a:extLst>
          </p:cNvPr>
          <p:cNvSpPr>
            <a:spLocks noGrp="1"/>
          </p:cNvSpPr>
          <p:nvPr>
            <p:ph idx="1"/>
          </p:nvPr>
        </p:nvSpPr>
        <p:spPr/>
        <p:txBody>
          <a:bodyPr>
            <a:normAutofit/>
          </a:bodyPr>
          <a:lstStyle/>
          <a:p>
            <a:pPr>
              <a:lnSpc>
                <a:spcPct val="160000"/>
              </a:lnSpc>
            </a:pPr>
            <a:r>
              <a:rPr lang="en-IN" dirty="0"/>
              <a:t>Introduced as standard in </a:t>
            </a:r>
            <a:r>
              <a:rPr lang="en-IN" b="1" dirty="0"/>
              <a:t>Java 14</a:t>
            </a:r>
            <a:endParaRPr lang="en-IN" dirty="0"/>
          </a:p>
          <a:p>
            <a:pPr>
              <a:lnSpc>
                <a:spcPct val="160000"/>
              </a:lnSpc>
            </a:pPr>
            <a:r>
              <a:rPr lang="en-IN" dirty="0"/>
              <a:t>Allows a switch to be used as an </a:t>
            </a:r>
            <a:r>
              <a:rPr lang="en-IN" b="1" dirty="0"/>
              <a:t>expression</a:t>
            </a:r>
            <a:r>
              <a:rPr lang="en-IN" dirty="0"/>
              <a:t> that returns a value</a:t>
            </a:r>
          </a:p>
          <a:p>
            <a:pPr>
              <a:lnSpc>
                <a:spcPct val="160000"/>
              </a:lnSpc>
            </a:pPr>
            <a:r>
              <a:rPr lang="en-IN" dirty="0"/>
              <a:t>Supports </a:t>
            </a:r>
            <a:r>
              <a:rPr lang="en-IN" b="1" dirty="0"/>
              <a:t>arrow syntax</a:t>
            </a:r>
            <a:r>
              <a:rPr lang="en-IN" dirty="0"/>
              <a:t> (-&gt;) and </a:t>
            </a:r>
            <a:r>
              <a:rPr lang="en-IN" b="1" dirty="0"/>
              <a:t>yield</a:t>
            </a:r>
            <a:endParaRPr lang="en-IN" dirty="0"/>
          </a:p>
          <a:p>
            <a:pPr>
              <a:lnSpc>
                <a:spcPct val="160000"/>
              </a:lnSpc>
            </a:pPr>
            <a:r>
              <a:rPr lang="en-IN" dirty="0"/>
              <a:t>Eliminates the need for break and fall-through cases</a:t>
            </a:r>
          </a:p>
          <a:p>
            <a:pPr>
              <a:lnSpc>
                <a:spcPct val="160000"/>
              </a:lnSpc>
            </a:pPr>
            <a:r>
              <a:rPr lang="en-IN" dirty="0"/>
              <a:t>Great for returning values directly from switch, improving </a:t>
            </a:r>
            <a:r>
              <a:rPr lang="en-IN" b="1" dirty="0"/>
              <a:t>readability</a:t>
            </a:r>
            <a:r>
              <a:rPr lang="en-IN" dirty="0"/>
              <a:t> and </a:t>
            </a:r>
            <a:r>
              <a:rPr lang="en-IN" b="1" dirty="0"/>
              <a:t>maintainability</a:t>
            </a:r>
            <a:endParaRPr lang="en-IN" dirty="0"/>
          </a:p>
          <a:p>
            <a:endParaRPr lang="en-US" dirty="0"/>
          </a:p>
        </p:txBody>
      </p:sp>
      <p:sp>
        <p:nvSpPr>
          <p:cNvPr id="5" name="Slide Number Placeholder 4">
            <a:extLst>
              <a:ext uri="{FF2B5EF4-FFF2-40B4-BE49-F238E27FC236}">
                <a16:creationId xmlns:a16="http://schemas.microsoft.com/office/drawing/2014/main" id="{35D87A29-91BB-0945-87B8-CABF0E76D533}"/>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4084129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D195C-8807-28BA-EBA9-67BB85BBA5AE}"/>
              </a:ext>
            </a:extLst>
          </p:cNvPr>
          <p:cNvSpPr>
            <a:spLocks noGrp="1"/>
          </p:cNvSpPr>
          <p:nvPr>
            <p:ph type="title"/>
          </p:nvPr>
        </p:nvSpPr>
        <p:spPr/>
        <p:txBody>
          <a:bodyPr/>
          <a:lstStyle/>
          <a:p>
            <a:r>
              <a:rPr lang="en-IN" b="1" dirty="0"/>
              <a:t>Pattern Matching for switch </a:t>
            </a:r>
            <a:br>
              <a:rPr lang="en-IN" b="1" dirty="0"/>
            </a:br>
            <a:endParaRPr lang="en-US" dirty="0"/>
          </a:p>
        </p:txBody>
      </p:sp>
      <p:sp>
        <p:nvSpPr>
          <p:cNvPr id="3" name="Content Placeholder 2">
            <a:extLst>
              <a:ext uri="{FF2B5EF4-FFF2-40B4-BE49-F238E27FC236}">
                <a16:creationId xmlns:a16="http://schemas.microsoft.com/office/drawing/2014/main" id="{138F8E69-0FCB-4458-246D-0537B00A3627}"/>
              </a:ext>
            </a:extLst>
          </p:cNvPr>
          <p:cNvSpPr>
            <a:spLocks noGrp="1"/>
          </p:cNvSpPr>
          <p:nvPr>
            <p:ph idx="1"/>
          </p:nvPr>
        </p:nvSpPr>
        <p:spPr/>
        <p:txBody>
          <a:bodyPr>
            <a:noAutofit/>
          </a:bodyPr>
          <a:lstStyle/>
          <a:p>
            <a:pPr>
              <a:lnSpc>
                <a:spcPct val="150000"/>
              </a:lnSpc>
            </a:pPr>
            <a:r>
              <a:rPr lang="en-IN" dirty="0"/>
              <a:t>Standardized in </a:t>
            </a:r>
            <a:r>
              <a:rPr lang="en-IN" b="1" dirty="0"/>
              <a:t>Java 21</a:t>
            </a:r>
            <a:endParaRPr lang="en-IN" dirty="0"/>
          </a:p>
          <a:p>
            <a:pPr>
              <a:lnSpc>
                <a:spcPct val="150000"/>
              </a:lnSpc>
            </a:pPr>
            <a:r>
              <a:rPr lang="en-IN" dirty="0"/>
              <a:t>Enhances the switch to support </a:t>
            </a:r>
            <a:r>
              <a:rPr lang="en-IN" b="1" dirty="0"/>
              <a:t>type patterns and guarded patterns</a:t>
            </a:r>
            <a:endParaRPr lang="en-IN" dirty="0"/>
          </a:p>
          <a:p>
            <a:pPr>
              <a:lnSpc>
                <a:spcPct val="150000"/>
              </a:lnSpc>
            </a:pPr>
            <a:r>
              <a:rPr lang="en-IN" dirty="0"/>
              <a:t>Works with objects, records(</a:t>
            </a:r>
            <a:r>
              <a:rPr lang="en-IN" dirty="0" err="1"/>
              <a:t>Stadardized</a:t>
            </a:r>
            <a:r>
              <a:rPr lang="en-IN" dirty="0"/>
              <a:t> in </a:t>
            </a:r>
            <a:r>
              <a:rPr lang="en-IN" b="1" dirty="0"/>
              <a:t>Java 22</a:t>
            </a:r>
            <a:r>
              <a:rPr lang="en-IN" dirty="0"/>
              <a:t>), and sealed types</a:t>
            </a:r>
          </a:p>
          <a:p>
            <a:pPr>
              <a:lnSpc>
                <a:spcPct val="150000"/>
              </a:lnSpc>
            </a:pPr>
            <a:r>
              <a:rPr lang="en-IN" dirty="0"/>
              <a:t>Makes the switch more </a:t>
            </a:r>
            <a:r>
              <a:rPr lang="en-IN" b="1" dirty="0"/>
              <a:t>powerful and expressive</a:t>
            </a:r>
            <a:endParaRPr lang="en-IN" dirty="0"/>
          </a:p>
          <a:p>
            <a:pPr>
              <a:lnSpc>
                <a:spcPct val="150000"/>
              </a:lnSpc>
            </a:pPr>
            <a:r>
              <a:rPr lang="en-IN" dirty="0"/>
              <a:t>Eliminates the need for multiple if-else </a:t>
            </a:r>
            <a:r>
              <a:rPr lang="en-IN" dirty="0" err="1"/>
              <a:t>instanceof</a:t>
            </a:r>
            <a:r>
              <a:rPr lang="en-IN" dirty="0"/>
              <a:t> blocks</a:t>
            </a:r>
          </a:p>
          <a:p>
            <a:pPr marL="0" indent="0">
              <a:lnSpc>
                <a:spcPct val="150000"/>
              </a:lnSpc>
              <a:buNone/>
            </a:pPr>
            <a:endParaRPr lang="en-US" dirty="0"/>
          </a:p>
        </p:txBody>
      </p:sp>
      <p:sp>
        <p:nvSpPr>
          <p:cNvPr id="5" name="Slide Number Placeholder 4">
            <a:extLst>
              <a:ext uri="{FF2B5EF4-FFF2-40B4-BE49-F238E27FC236}">
                <a16:creationId xmlns:a16="http://schemas.microsoft.com/office/drawing/2014/main" id="{094D260B-0C88-A7C1-02BB-FF5DA03E99AD}"/>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Tree>
    <p:extLst>
      <p:ext uri="{BB962C8B-B14F-4D97-AF65-F5344CB8AC3E}">
        <p14:creationId xmlns:p14="http://schemas.microsoft.com/office/powerpoint/2010/main" val="2648636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2FC9E-195A-5659-FD14-AC1325209FD0}"/>
              </a:ext>
            </a:extLst>
          </p:cNvPr>
          <p:cNvSpPr>
            <a:spLocks noGrp="1"/>
          </p:cNvSpPr>
          <p:nvPr>
            <p:ph type="title"/>
          </p:nvPr>
        </p:nvSpPr>
        <p:spPr/>
        <p:txBody>
          <a:bodyPr/>
          <a:lstStyle/>
          <a:p>
            <a:r>
              <a:rPr lang="en-IN" b="1" dirty="0"/>
              <a:t>Sealed Types</a:t>
            </a:r>
            <a:br>
              <a:rPr lang="en-IN" b="1" dirty="0"/>
            </a:br>
            <a:endParaRPr lang="en-US" dirty="0"/>
          </a:p>
        </p:txBody>
      </p:sp>
      <p:sp>
        <p:nvSpPr>
          <p:cNvPr id="3" name="Content Placeholder 2">
            <a:extLst>
              <a:ext uri="{FF2B5EF4-FFF2-40B4-BE49-F238E27FC236}">
                <a16:creationId xmlns:a16="http://schemas.microsoft.com/office/drawing/2014/main" id="{0CF7D33D-A58F-954E-98F3-F952F9A9CF71}"/>
              </a:ext>
            </a:extLst>
          </p:cNvPr>
          <p:cNvSpPr>
            <a:spLocks noGrp="1"/>
          </p:cNvSpPr>
          <p:nvPr>
            <p:ph idx="1"/>
          </p:nvPr>
        </p:nvSpPr>
        <p:spPr/>
        <p:txBody>
          <a:bodyPr>
            <a:normAutofit/>
          </a:bodyPr>
          <a:lstStyle/>
          <a:p>
            <a:pPr>
              <a:lnSpc>
                <a:spcPct val="150000"/>
              </a:lnSpc>
            </a:pPr>
            <a:r>
              <a:rPr lang="en-IN" dirty="0"/>
              <a:t>Introduced in </a:t>
            </a:r>
            <a:r>
              <a:rPr lang="en-IN" b="1" dirty="0"/>
              <a:t>Java 17 (standard)</a:t>
            </a:r>
            <a:endParaRPr lang="en-IN" dirty="0"/>
          </a:p>
          <a:p>
            <a:pPr>
              <a:lnSpc>
                <a:spcPct val="150000"/>
              </a:lnSpc>
            </a:pPr>
            <a:r>
              <a:rPr lang="en-IN" dirty="0"/>
              <a:t>Allow a class or interface to </a:t>
            </a:r>
            <a:r>
              <a:rPr lang="en-IN" b="1" dirty="0"/>
              <a:t>restrict which other classes</a:t>
            </a:r>
            <a:r>
              <a:rPr lang="en-IN" dirty="0"/>
              <a:t> may extend or implement it</a:t>
            </a:r>
          </a:p>
          <a:p>
            <a:pPr>
              <a:lnSpc>
                <a:spcPct val="150000"/>
              </a:lnSpc>
            </a:pPr>
            <a:r>
              <a:rPr lang="en-IN" dirty="0"/>
              <a:t>Provide </a:t>
            </a:r>
            <a:r>
              <a:rPr lang="en-IN" b="1" dirty="0"/>
              <a:t>explicit control</a:t>
            </a:r>
            <a:r>
              <a:rPr lang="en-IN" dirty="0"/>
              <a:t> over type hierarchies</a:t>
            </a:r>
          </a:p>
          <a:p>
            <a:pPr>
              <a:lnSpc>
                <a:spcPct val="150000"/>
              </a:lnSpc>
            </a:pPr>
            <a:r>
              <a:rPr lang="en-IN" dirty="0"/>
              <a:t>Improve </a:t>
            </a:r>
            <a:r>
              <a:rPr lang="en-IN" b="1" dirty="0"/>
              <a:t>code safety</a:t>
            </a:r>
            <a:r>
              <a:rPr lang="en-IN" dirty="0"/>
              <a:t> and </a:t>
            </a:r>
            <a:r>
              <a:rPr lang="en-IN" b="1" dirty="0"/>
              <a:t>intent clarity</a:t>
            </a:r>
            <a:endParaRPr lang="en-IN" dirty="0"/>
          </a:p>
          <a:p>
            <a:pPr marL="0" indent="0">
              <a:buNone/>
            </a:pPr>
            <a:endParaRPr lang="en-US" dirty="0"/>
          </a:p>
        </p:txBody>
      </p:sp>
      <p:sp>
        <p:nvSpPr>
          <p:cNvPr id="5" name="Slide Number Placeholder 4">
            <a:extLst>
              <a:ext uri="{FF2B5EF4-FFF2-40B4-BE49-F238E27FC236}">
                <a16:creationId xmlns:a16="http://schemas.microsoft.com/office/drawing/2014/main" id="{75CC3A12-7B16-7BB1-82BA-40BE3BD638B6}"/>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Tree>
    <p:extLst>
      <p:ext uri="{BB962C8B-B14F-4D97-AF65-F5344CB8AC3E}">
        <p14:creationId xmlns:p14="http://schemas.microsoft.com/office/powerpoint/2010/main" val="2773776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CB158-7687-A053-3EDC-DE86E67DFDE4}"/>
              </a:ext>
            </a:extLst>
          </p:cNvPr>
          <p:cNvSpPr>
            <a:spLocks noGrp="1"/>
          </p:cNvSpPr>
          <p:nvPr>
            <p:ph type="title"/>
          </p:nvPr>
        </p:nvSpPr>
        <p:spPr/>
        <p:txBody>
          <a:bodyPr/>
          <a:lstStyle/>
          <a:p>
            <a:r>
              <a:rPr lang="en-US" b="1" dirty="0"/>
              <a:t>Virtual thread</a:t>
            </a:r>
            <a:endParaRPr lang="en-US" dirty="0"/>
          </a:p>
        </p:txBody>
      </p:sp>
      <p:sp>
        <p:nvSpPr>
          <p:cNvPr id="3" name="Content Placeholder 2">
            <a:extLst>
              <a:ext uri="{FF2B5EF4-FFF2-40B4-BE49-F238E27FC236}">
                <a16:creationId xmlns:a16="http://schemas.microsoft.com/office/drawing/2014/main" id="{0866C74E-882B-BCEC-C258-490E2B409EA6}"/>
              </a:ext>
            </a:extLst>
          </p:cNvPr>
          <p:cNvSpPr>
            <a:spLocks noGrp="1"/>
          </p:cNvSpPr>
          <p:nvPr>
            <p:ph idx="1"/>
          </p:nvPr>
        </p:nvSpPr>
        <p:spPr/>
        <p:txBody>
          <a:bodyPr/>
          <a:lstStyle/>
          <a:p>
            <a:r>
              <a:rPr lang="en-IN" dirty="0"/>
              <a:t>Introduced in </a:t>
            </a:r>
            <a:r>
              <a:rPr lang="en-IN" b="1" dirty="0"/>
              <a:t>Java 21 (standard)</a:t>
            </a:r>
            <a:endParaRPr lang="en-IN" dirty="0">
              <a:latin typeface="Abadi" panose="020B0604020104020204" pitchFamily="34" charset="0"/>
            </a:endParaRPr>
          </a:p>
          <a:p>
            <a:r>
              <a:rPr lang="en-IN" dirty="0">
                <a:latin typeface="Abadi" panose="020B0604020104020204" pitchFamily="34" charset="0"/>
              </a:rPr>
              <a:t>High-Level Overview of Thread vs. Virtual Thread. At a high level, a thread is managed and scheduled by the operating system, while a virtual thread is managed and scheduled by a virtual machine.</a:t>
            </a:r>
            <a:endParaRPr lang="en-US" dirty="0">
              <a:latin typeface="Abadi" panose="020B0604020104020204" pitchFamily="34" charset="0"/>
            </a:endParaRPr>
          </a:p>
          <a:p>
            <a:r>
              <a:rPr lang="en-IN" dirty="0">
                <a:latin typeface="Abadi" panose="020B0604020104020204" pitchFamily="34" charset="0"/>
              </a:rPr>
              <a:t>Lightweight: Virtual threads are lightweight in terms of memory and CPU overhead compared to native threads. They typically have lower context-switching costs and consume fewer system resources, making them suitable for highly concurrent applications</a:t>
            </a:r>
            <a:endParaRPr lang="en-US" dirty="0">
              <a:latin typeface="Abadi" panose="020B0604020104020204" pitchFamily="34" charset="0"/>
            </a:endParaRPr>
          </a:p>
          <a:p>
            <a:endParaRPr lang="en-US" dirty="0"/>
          </a:p>
        </p:txBody>
      </p:sp>
      <p:sp>
        <p:nvSpPr>
          <p:cNvPr id="4" name="Slide Number Placeholder 3">
            <a:extLst>
              <a:ext uri="{FF2B5EF4-FFF2-40B4-BE49-F238E27FC236}">
                <a16:creationId xmlns:a16="http://schemas.microsoft.com/office/drawing/2014/main" id="{68BB3E03-34B1-0352-525B-BFAD372C23D9}"/>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Tree>
    <p:extLst>
      <p:ext uri="{BB962C8B-B14F-4D97-AF65-F5344CB8AC3E}">
        <p14:creationId xmlns:p14="http://schemas.microsoft.com/office/powerpoint/2010/main" val="3837287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CC225-98E4-3AB5-296B-61DD6F8467DB}"/>
              </a:ext>
            </a:extLst>
          </p:cNvPr>
          <p:cNvSpPr>
            <a:spLocks noGrp="1"/>
          </p:cNvSpPr>
          <p:nvPr>
            <p:ph type="title"/>
          </p:nvPr>
        </p:nvSpPr>
        <p:spPr/>
        <p:txBody>
          <a:bodyPr>
            <a:normAutofit/>
          </a:bodyPr>
          <a:lstStyle/>
          <a:p>
            <a:r>
              <a:rPr lang="en-IN" sz="4400" dirty="0"/>
              <a:t>Quick Glance - Traditional vs Virtual Threads</a:t>
            </a:r>
            <a:endParaRPr lang="en-US" sz="4400" dirty="0"/>
          </a:p>
        </p:txBody>
      </p:sp>
      <p:sp>
        <p:nvSpPr>
          <p:cNvPr id="4" name="Slide Number Placeholder 3">
            <a:extLst>
              <a:ext uri="{FF2B5EF4-FFF2-40B4-BE49-F238E27FC236}">
                <a16:creationId xmlns:a16="http://schemas.microsoft.com/office/drawing/2014/main" id="{22FF65A0-FDBD-28C2-FAD5-9FE0EBA1FC06}"/>
              </a:ext>
            </a:extLst>
          </p:cNvPr>
          <p:cNvSpPr>
            <a:spLocks noGrp="1"/>
          </p:cNvSpPr>
          <p:nvPr>
            <p:ph type="sldNum" sz="quarter" idx="12"/>
          </p:nvPr>
        </p:nvSpPr>
        <p:spPr/>
        <p:txBody>
          <a:bodyPr/>
          <a:lstStyle/>
          <a:p>
            <a:fld id="{D57F1E4F-1CFF-5643-939E-217C01CDF565}" type="slidenum">
              <a:rPr lang="en-US" smtClean="0"/>
              <a:pPr/>
              <a:t>19</a:t>
            </a:fld>
            <a:endParaRPr lang="en-US" dirty="0"/>
          </a:p>
        </p:txBody>
      </p:sp>
      <p:pic>
        <p:nvPicPr>
          <p:cNvPr id="5" name="Content Placeholder 4">
            <a:extLst>
              <a:ext uri="{FF2B5EF4-FFF2-40B4-BE49-F238E27FC236}">
                <a16:creationId xmlns:a16="http://schemas.microsoft.com/office/drawing/2014/main" id="{1564A139-3238-19E8-438B-9F6751D93233}"/>
              </a:ext>
            </a:extLst>
          </p:cNvPr>
          <p:cNvPicPr>
            <a:picLocks noGrp="1" noChangeAspect="1"/>
          </p:cNvPicPr>
          <p:nvPr>
            <p:ph idx="1"/>
          </p:nvPr>
        </p:nvPicPr>
        <p:blipFill>
          <a:blip r:embed="rId2"/>
          <a:stretch>
            <a:fillRect/>
          </a:stretch>
        </p:blipFill>
        <p:spPr>
          <a:xfrm>
            <a:off x="1261149" y="2093975"/>
            <a:ext cx="8216679" cy="3796207"/>
          </a:xfrm>
        </p:spPr>
      </p:pic>
    </p:spTree>
    <p:extLst>
      <p:ext uri="{BB962C8B-B14F-4D97-AF65-F5344CB8AC3E}">
        <p14:creationId xmlns:p14="http://schemas.microsoft.com/office/powerpoint/2010/main" val="4107076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24A41-3832-BF46-31B9-36F036242DFE}"/>
              </a:ext>
            </a:extLst>
          </p:cNvPr>
          <p:cNvSpPr>
            <a:spLocks noGrp="1"/>
          </p:cNvSpPr>
          <p:nvPr>
            <p:ph type="title"/>
          </p:nvPr>
        </p:nvSpPr>
        <p:spPr/>
        <p:txBody>
          <a:bodyPr/>
          <a:lstStyle/>
          <a:p>
            <a:r>
              <a:rPr lang="en-US" dirty="0"/>
              <a:t>Motivation for class file API</a:t>
            </a:r>
          </a:p>
        </p:txBody>
      </p:sp>
      <p:sp>
        <p:nvSpPr>
          <p:cNvPr id="3" name="Content Placeholder 2">
            <a:extLst>
              <a:ext uri="{FF2B5EF4-FFF2-40B4-BE49-F238E27FC236}">
                <a16:creationId xmlns:a16="http://schemas.microsoft.com/office/drawing/2014/main" id="{97A5DE4B-670D-20F2-6924-E3DCCF8A0EF7}"/>
              </a:ext>
            </a:extLst>
          </p:cNvPr>
          <p:cNvSpPr>
            <a:spLocks noGrp="1"/>
          </p:cNvSpPr>
          <p:nvPr>
            <p:ph idx="1"/>
          </p:nvPr>
        </p:nvSpPr>
        <p:spPr>
          <a:xfrm>
            <a:off x="1063752" y="1775720"/>
            <a:ext cx="10058400" cy="4050792"/>
          </a:xfrm>
        </p:spPr>
        <p:txBody>
          <a:bodyPr>
            <a:noAutofit/>
          </a:bodyPr>
          <a:lstStyle/>
          <a:p>
            <a:pPr lvl="0">
              <a:lnSpc>
                <a:spcPct val="150000"/>
              </a:lnSpc>
            </a:pPr>
            <a:r>
              <a:rPr lang="en-IN" b="1" dirty="0"/>
              <a:t>Need for a Standard Class-File API</a:t>
            </a:r>
            <a:r>
              <a:rPr lang="en-IN" dirty="0"/>
              <a:t>: Current reliance on third-party libraries like ASM, BCEL, and </a:t>
            </a:r>
            <a:r>
              <a:rPr lang="en-IN" dirty="0" err="1"/>
              <a:t>Javassist</a:t>
            </a:r>
            <a:r>
              <a:rPr lang="en-IN" dirty="0"/>
              <a:t> causes version skew, leading to errors and delays in supporting new class-file features.</a:t>
            </a:r>
            <a:endParaRPr lang="en-US" dirty="0"/>
          </a:p>
          <a:p>
            <a:pPr lvl="0">
              <a:lnSpc>
                <a:spcPct val="150000"/>
              </a:lnSpc>
            </a:pPr>
            <a:r>
              <a:rPr lang="en-IN" b="1" dirty="0"/>
              <a:t>Evolution of Class-File Format</a:t>
            </a:r>
            <a:r>
              <a:rPr lang="en-IN" dirty="0"/>
              <a:t>: Frequent JDK updates (every six months) introduce new features (e.g., sealed classes, value classes), making it challenging for frameworks to stay compatible with the latest class files.</a:t>
            </a:r>
            <a:endParaRPr lang="en-US" dirty="0"/>
          </a:p>
          <a:p>
            <a:pPr lvl="0">
              <a:lnSpc>
                <a:spcPct val="150000"/>
              </a:lnSpc>
            </a:pPr>
            <a:r>
              <a:rPr lang="en-IN" b="1" dirty="0"/>
              <a:t>Proposed Solution</a:t>
            </a:r>
            <a:r>
              <a:rPr lang="en-IN" dirty="0"/>
              <a:t>: A standardized class-file API within the Java Platform, evolving with the class-file format, would ensure seamless adoption of new features and eliminate the need for third-party libraries to update independently.</a:t>
            </a:r>
            <a:endParaRPr lang="en-US" dirty="0"/>
          </a:p>
          <a:p>
            <a:pPr marL="0" indent="0">
              <a:lnSpc>
                <a:spcPct val="150000"/>
              </a:lnSpc>
              <a:buNone/>
            </a:pPr>
            <a:endParaRPr lang="en-US" dirty="0"/>
          </a:p>
        </p:txBody>
      </p:sp>
      <p:sp>
        <p:nvSpPr>
          <p:cNvPr id="4" name="Slide Number Placeholder 3">
            <a:extLst>
              <a:ext uri="{FF2B5EF4-FFF2-40B4-BE49-F238E27FC236}">
                <a16:creationId xmlns:a16="http://schemas.microsoft.com/office/drawing/2014/main" id="{783A6D9F-12DE-0EBC-CB81-35792777C8AD}"/>
              </a:ext>
            </a:extLst>
          </p:cNvPr>
          <p:cNvSpPr>
            <a:spLocks noGrp="1"/>
          </p:cNvSpPr>
          <p:nvPr>
            <p:ph type="sldNum" sz="quarter" idx="12"/>
          </p:nvPr>
        </p:nvSpPr>
        <p:spPr/>
        <p:txBody>
          <a:bodyPr/>
          <a:lstStyle/>
          <a:p>
            <a:fld id="{D57F1E4F-1CFF-5643-939E-217C01CDF565}" type="slidenum">
              <a:rPr lang="en-US" smtClean="0"/>
              <a:pPr/>
              <a:t>20</a:t>
            </a:fld>
            <a:endParaRPr lang="en-US" dirty="0"/>
          </a:p>
        </p:txBody>
      </p:sp>
    </p:spTree>
    <p:extLst>
      <p:ext uri="{BB962C8B-B14F-4D97-AF65-F5344CB8AC3E}">
        <p14:creationId xmlns:p14="http://schemas.microsoft.com/office/powerpoint/2010/main" val="2996757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26F76-9015-93C6-BF79-08CCF8CBE37A}"/>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856FBED3-F68F-226F-995D-F895BEEF835D}"/>
              </a:ext>
            </a:extLst>
          </p:cNvPr>
          <p:cNvSpPr>
            <a:spLocks noGrp="1"/>
          </p:cNvSpPr>
          <p:nvPr>
            <p:ph idx="1"/>
          </p:nvPr>
        </p:nvSpPr>
        <p:spPr/>
        <p:txBody>
          <a:bodyPr/>
          <a:lstStyle/>
          <a:p>
            <a:pPr marL="0" indent="0">
              <a:buNone/>
            </a:pPr>
            <a:r>
              <a:rPr lang="en-IN" b="1" dirty="0">
                <a:latin typeface="inherit"/>
              </a:rPr>
              <a:t>Create a class file example</a:t>
            </a:r>
          </a:p>
          <a:p>
            <a:r>
              <a:rPr lang="en-IN" dirty="0" err="1">
                <a:latin typeface="inherit"/>
              </a:rPr>
              <a:t>javac</a:t>
            </a:r>
            <a:r>
              <a:rPr lang="en-IN" dirty="0">
                <a:latin typeface="inherit"/>
              </a:rPr>
              <a:t> </a:t>
            </a:r>
            <a:r>
              <a:rPr lang="en-IN" dirty="0" err="1"/>
              <a:t>ClassFileApi.java</a:t>
            </a:r>
            <a:endParaRPr lang="en-IN" dirty="0"/>
          </a:p>
          <a:p>
            <a:r>
              <a:rPr lang="en-IN" dirty="0">
                <a:latin typeface="inherit"/>
              </a:rPr>
              <a:t>.java </a:t>
            </a:r>
            <a:r>
              <a:rPr lang="en-IN" dirty="0" err="1"/>
              <a:t>ClassFileApi</a:t>
            </a:r>
            <a:endParaRPr lang="en-IN" dirty="0"/>
          </a:p>
          <a:p>
            <a:r>
              <a:rPr lang="en-IN" dirty="0">
                <a:latin typeface="inherit"/>
              </a:rPr>
              <a:t>java HelloWorld</a:t>
            </a:r>
          </a:p>
          <a:p>
            <a:pPr marL="0" indent="0">
              <a:buNone/>
            </a:pPr>
            <a:endParaRPr lang="en-IN" b="1" dirty="0">
              <a:latin typeface="inherit"/>
            </a:endParaRPr>
          </a:p>
          <a:p>
            <a:pPr marL="0" indent="0">
              <a:buNone/>
            </a:pPr>
            <a:r>
              <a:rPr lang="en-IN" b="1" dirty="0">
                <a:latin typeface="inherit"/>
              </a:rPr>
              <a:t>Parse a class file example</a:t>
            </a:r>
          </a:p>
          <a:p>
            <a:r>
              <a:rPr lang="en-IN" dirty="0" err="1"/>
              <a:t>javac</a:t>
            </a:r>
            <a:r>
              <a:rPr lang="en-IN" dirty="0"/>
              <a:t> </a:t>
            </a:r>
            <a:r>
              <a:rPr lang="en-IN" dirty="0" err="1"/>
              <a:t>parse.java</a:t>
            </a:r>
            <a:endParaRPr lang="en-IN" dirty="0"/>
          </a:p>
          <a:p>
            <a:r>
              <a:rPr lang="en-IN" dirty="0"/>
              <a:t>java  parse</a:t>
            </a:r>
          </a:p>
          <a:p>
            <a:endParaRPr lang="en-US" dirty="0"/>
          </a:p>
          <a:p>
            <a:endParaRPr lang="en-US" dirty="0"/>
          </a:p>
        </p:txBody>
      </p:sp>
      <p:sp>
        <p:nvSpPr>
          <p:cNvPr id="4" name="Slide Number Placeholder 3">
            <a:extLst>
              <a:ext uri="{FF2B5EF4-FFF2-40B4-BE49-F238E27FC236}">
                <a16:creationId xmlns:a16="http://schemas.microsoft.com/office/drawing/2014/main" id="{A4E3262B-E479-D3E7-9881-4B7090FD3888}"/>
              </a:ext>
            </a:extLst>
          </p:cNvPr>
          <p:cNvSpPr>
            <a:spLocks noGrp="1"/>
          </p:cNvSpPr>
          <p:nvPr>
            <p:ph type="sldNum" sz="quarter" idx="12"/>
          </p:nvPr>
        </p:nvSpPr>
        <p:spPr/>
        <p:txBody>
          <a:bodyPr/>
          <a:lstStyle/>
          <a:p>
            <a:fld id="{D57F1E4F-1CFF-5643-939E-217C01CDF565}" type="slidenum">
              <a:rPr lang="en-US" smtClean="0"/>
              <a:pPr/>
              <a:t>21</a:t>
            </a:fld>
            <a:endParaRPr lang="en-US" dirty="0"/>
          </a:p>
        </p:txBody>
      </p:sp>
    </p:spTree>
    <p:extLst>
      <p:ext uri="{BB962C8B-B14F-4D97-AF65-F5344CB8AC3E}">
        <p14:creationId xmlns:p14="http://schemas.microsoft.com/office/powerpoint/2010/main" val="3614864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C2827-F271-993D-9197-D105BE5993C3}"/>
              </a:ext>
            </a:extLst>
          </p:cNvPr>
          <p:cNvSpPr>
            <a:spLocks noGrp="1"/>
          </p:cNvSpPr>
          <p:nvPr>
            <p:ph type="title"/>
          </p:nvPr>
        </p:nvSpPr>
        <p:spPr/>
        <p:txBody>
          <a:bodyPr>
            <a:normAutofit fontScale="90000"/>
          </a:bodyPr>
          <a:lstStyle/>
          <a:p>
            <a:r>
              <a:rPr lang="en-IN" sz="4900" b="1" dirty="0"/>
              <a:t>Module Import Declarations(J23-J25)</a:t>
            </a:r>
            <a:br>
              <a:rPr lang="en-IN" b="1" dirty="0"/>
            </a:br>
            <a:endParaRPr lang="en-US" dirty="0"/>
          </a:p>
        </p:txBody>
      </p:sp>
      <p:sp>
        <p:nvSpPr>
          <p:cNvPr id="4" name="Slide Number Placeholder 3">
            <a:extLst>
              <a:ext uri="{FF2B5EF4-FFF2-40B4-BE49-F238E27FC236}">
                <a16:creationId xmlns:a16="http://schemas.microsoft.com/office/drawing/2014/main" id="{AAA3895C-40A8-D0F6-322E-996D905861F8}"/>
              </a:ext>
            </a:extLst>
          </p:cNvPr>
          <p:cNvSpPr>
            <a:spLocks noGrp="1"/>
          </p:cNvSpPr>
          <p:nvPr>
            <p:ph type="sldNum" sz="quarter" idx="12"/>
          </p:nvPr>
        </p:nvSpPr>
        <p:spPr/>
        <p:txBody>
          <a:bodyPr/>
          <a:lstStyle/>
          <a:p>
            <a:fld id="{D57F1E4F-1CFF-5643-939E-217C01CDF565}" type="slidenum">
              <a:rPr lang="en-US" smtClean="0"/>
              <a:pPr/>
              <a:t>22</a:t>
            </a:fld>
            <a:endParaRPr lang="en-US" dirty="0"/>
          </a:p>
        </p:txBody>
      </p:sp>
      <p:pic>
        <p:nvPicPr>
          <p:cNvPr id="5" name="Content Placeholder 3">
            <a:extLst>
              <a:ext uri="{FF2B5EF4-FFF2-40B4-BE49-F238E27FC236}">
                <a16:creationId xmlns:a16="http://schemas.microsoft.com/office/drawing/2014/main" id="{D61D737B-3040-18C8-BD3D-FCBDD7DAD046}"/>
              </a:ext>
            </a:extLst>
          </p:cNvPr>
          <p:cNvPicPr>
            <a:picLocks noGrp="1" noChangeAspect="1"/>
          </p:cNvPicPr>
          <p:nvPr>
            <p:ph idx="1"/>
          </p:nvPr>
        </p:nvPicPr>
        <p:blipFill>
          <a:blip r:embed="rId2"/>
          <a:stretch>
            <a:fillRect/>
          </a:stretch>
        </p:blipFill>
        <p:spPr>
          <a:xfrm>
            <a:off x="385626" y="2331706"/>
            <a:ext cx="5710374" cy="2765023"/>
          </a:xfrm>
          <a:prstGeom prst="rect">
            <a:avLst/>
          </a:prstGeom>
        </p:spPr>
      </p:pic>
      <p:pic>
        <p:nvPicPr>
          <p:cNvPr id="6" name="Picture 5">
            <a:extLst>
              <a:ext uri="{FF2B5EF4-FFF2-40B4-BE49-F238E27FC236}">
                <a16:creationId xmlns:a16="http://schemas.microsoft.com/office/drawing/2014/main" id="{CF44A69E-0207-775A-FBC3-C72A55F3471E}"/>
              </a:ext>
            </a:extLst>
          </p:cNvPr>
          <p:cNvPicPr>
            <a:picLocks noChangeAspect="1"/>
          </p:cNvPicPr>
          <p:nvPr/>
        </p:nvPicPr>
        <p:blipFill>
          <a:blip r:embed="rId3"/>
          <a:stretch>
            <a:fillRect/>
          </a:stretch>
        </p:blipFill>
        <p:spPr>
          <a:xfrm>
            <a:off x="6662056" y="2468746"/>
            <a:ext cx="5144317" cy="3040722"/>
          </a:xfrm>
          <a:prstGeom prst="rect">
            <a:avLst/>
          </a:prstGeom>
        </p:spPr>
      </p:pic>
      <p:sp>
        <p:nvSpPr>
          <p:cNvPr id="7" name="TextBox 6">
            <a:extLst>
              <a:ext uri="{FF2B5EF4-FFF2-40B4-BE49-F238E27FC236}">
                <a16:creationId xmlns:a16="http://schemas.microsoft.com/office/drawing/2014/main" id="{62CA016B-FA66-4E6D-CB2A-F4A7F70D12C0}"/>
              </a:ext>
            </a:extLst>
          </p:cNvPr>
          <p:cNvSpPr txBox="1"/>
          <p:nvPr/>
        </p:nvSpPr>
        <p:spPr>
          <a:xfrm>
            <a:off x="7302321" y="1706107"/>
            <a:ext cx="658514" cy="369332"/>
          </a:xfrm>
          <a:prstGeom prst="rect">
            <a:avLst/>
          </a:prstGeom>
          <a:noFill/>
        </p:spPr>
        <p:txBody>
          <a:bodyPr wrap="none" rtlCol="0">
            <a:spAutoFit/>
          </a:bodyPr>
          <a:lstStyle/>
          <a:p>
            <a:r>
              <a:rPr lang="en-US" b="1" dirty="0"/>
              <a:t>Now</a:t>
            </a:r>
          </a:p>
        </p:txBody>
      </p:sp>
      <p:sp>
        <p:nvSpPr>
          <p:cNvPr id="8" name="TextBox 7">
            <a:extLst>
              <a:ext uri="{FF2B5EF4-FFF2-40B4-BE49-F238E27FC236}">
                <a16:creationId xmlns:a16="http://schemas.microsoft.com/office/drawing/2014/main" id="{242C684B-B796-AB2E-A75F-C9F3AEE17727}"/>
              </a:ext>
            </a:extLst>
          </p:cNvPr>
          <p:cNvSpPr txBox="1"/>
          <p:nvPr/>
        </p:nvSpPr>
        <p:spPr>
          <a:xfrm>
            <a:off x="1852411" y="1706107"/>
            <a:ext cx="875561" cy="369332"/>
          </a:xfrm>
          <a:prstGeom prst="rect">
            <a:avLst/>
          </a:prstGeom>
          <a:noFill/>
        </p:spPr>
        <p:txBody>
          <a:bodyPr wrap="none" rtlCol="0">
            <a:spAutoFit/>
          </a:bodyPr>
          <a:lstStyle/>
          <a:p>
            <a:r>
              <a:rPr lang="en-US" b="1" dirty="0"/>
              <a:t>Earlier</a:t>
            </a:r>
          </a:p>
        </p:txBody>
      </p:sp>
      <p:sp>
        <p:nvSpPr>
          <p:cNvPr id="9" name="TextBox 8">
            <a:extLst>
              <a:ext uri="{FF2B5EF4-FFF2-40B4-BE49-F238E27FC236}">
                <a16:creationId xmlns:a16="http://schemas.microsoft.com/office/drawing/2014/main" id="{77B13213-A692-B9F9-F5AA-616D0A4B6D77}"/>
              </a:ext>
            </a:extLst>
          </p:cNvPr>
          <p:cNvSpPr txBox="1"/>
          <p:nvPr/>
        </p:nvSpPr>
        <p:spPr>
          <a:xfrm>
            <a:off x="714620" y="5334459"/>
            <a:ext cx="9630792" cy="369332"/>
          </a:xfrm>
          <a:prstGeom prst="rect">
            <a:avLst/>
          </a:prstGeom>
          <a:noFill/>
        </p:spPr>
        <p:txBody>
          <a:bodyPr wrap="square" rtlCol="0">
            <a:spAutoFit/>
          </a:bodyPr>
          <a:lstStyle/>
          <a:p>
            <a:r>
              <a:rPr lang="en-US" dirty="0"/>
              <a:t>Beware of </a:t>
            </a:r>
            <a:r>
              <a:rPr lang="en-US" dirty="0" err="1"/>
              <a:t>ambigious</a:t>
            </a:r>
            <a:r>
              <a:rPr lang="en-US" dirty="0"/>
              <a:t> import for </a:t>
            </a:r>
            <a:r>
              <a:rPr lang="en-US" dirty="0" err="1"/>
              <a:t>eg</a:t>
            </a:r>
            <a:r>
              <a:rPr lang="en-US" dirty="0"/>
              <a:t> </a:t>
            </a:r>
            <a:r>
              <a:rPr lang="en-IN" dirty="0" err="1"/>
              <a:t>java.awt.List</a:t>
            </a:r>
            <a:r>
              <a:rPr lang="en-IN" dirty="0"/>
              <a:t> and </a:t>
            </a:r>
            <a:r>
              <a:rPr lang="en-IN" dirty="0" err="1"/>
              <a:t>java.util.List</a:t>
            </a:r>
            <a:r>
              <a:rPr lang="en-IN" dirty="0"/>
              <a:t>, can lead to compilation error </a:t>
            </a:r>
            <a:endParaRPr lang="en-US" dirty="0"/>
          </a:p>
        </p:txBody>
      </p:sp>
    </p:spTree>
    <p:extLst>
      <p:ext uri="{BB962C8B-B14F-4D97-AF65-F5344CB8AC3E}">
        <p14:creationId xmlns:p14="http://schemas.microsoft.com/office/powerpoint/2010/main" val="20355069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C86C1-55A4-ABB0-D3D2-F8881E6DF9B6}"/>
              </a:ext>
            </a:extLst>
          </p:cNvPr>
          <p:cNvSpPr>
            <a:spLocks noGrp="1"/>
          </p:cNvSpPr>
          <p:nvPr>
            <p:ph type="title"/>
          </p:nvPr>
        </p:nvSpPr>
        <p:spPr/>
        <p:txBody>
          <a:bodyPr/>
          <a:lstStyle/>
          <a:p>
            <a:r>
              <a:rPr lang="en-IN" b="1" dirty="0"/>
              <a:t>Stream Gatherers </a:t>
            </a:r>
            <a:br>
              <a:rPr lang="en-IN" b="1" dirty="0"/>
            </a:br>
            <a:endParaRPr lang="en-US" dirty="0"/>
          </a:p>
        </p:txBody>
      </p:sp>
      <p:sp>
        <p:nvSpPr>
          <p:cNvPr id="3" name="Content Placeholder 2">
            <a:extLst>
              <a:ext uri="{FF2B5EF4-FFF2-40B4-BE49-F238E27FC236}">
                <a16:creationId xmlns:a16="http://schemas.microsoft.com/office/drawing/2014/main" id="{E1FA6B4E-1CFA-7E3F-5D33-E32C4E01F731}"/>
              </a:ext>
            </a:extLst>
          </p:cNvPr>
          <p:cNvSpPr>
            <a:spLocks noGrp="1"/>
          </p:cNvSpPr>
          <p:nvPr>
            <p:ph idx="1"/>
          </p:nvPr>
        </p:nvSpPr>
        <p:spPr>
          <a:xfrm>
            <a:off x="1066800" y="1403604"/>
            <a:ext cx="10058400" cy="4050792"/>
          </a:xfrm>
        </p:spPr>
        <p:txBody>
          <a:bodyPr>
            <a:normAutofit/>
          </a:bodyPr>
          <a:lstStyle/>
          <a:p>
            <a:pPr>
              <a:lnSpc>
                <a:spcPct val="150000"/>
              </a:lnSpc>
            </a:pPr>
            <a:r>
              <a:rPr lang="en-IN" dirty="0"/>
              <a:t>Introduced in </a:t>
            </a:r>
            <a:r>
              <a:rPr lang="en-IN" b="1" dirty="0"/>
              <a:t>Java 24</a:t>
            </a:r>
            <a:r>
              <a:rPr lang="en-IN" dirty="0"/>
              <a:t> (standard)</a:t>
            </a:r>
          </a:p>
          <a:p>
            <a:pPr>
              <a:lnSpc>
                <a:spcPct val="150000"/>
              </a:lnSpc>
            </a:pPr>
            <a:r>
              <a:rPr lang="en-IN" dirty="0"/>
              <a:t>Allow </a:t>
            </a:r>
            <a:r>
              <a:rPr lang="en-IN" b="1" dirty="0"/>
              <a:t>custom stream collection logic</a:t>
            </a:r>
            <a:r>
              <a:rPr lang="en-IN" dirty="0"/>
              <a:t> beyond map, filter, collect.</a:t>
            </a:r>
          </a:p>
          <a:p>
            <a:pPr>
              <a:lnSpc>
                <a:spcPct val="150000"/>
              </a:lnSpc>
            </a:pPr>
            <a:r>
              <a:rPr lang="en-IN" b="1" dirty="0"/>
              <a:t>m-to-n</a:t>
            </a:r>
            <a:r>
              <a:rPr lang="en-IN" dirty="0"/>
              <a:t> mapping of input elements grouped into a list of configured size.</a:t>
            </a:r>
          </a:p>
          <a:p>
            <a:pPr>
              <a:lnSpc>
                <a:spcPct val="150000"/>
              </a:lnSpc>
            </a:pPr>
            <a:r>
              <a:rPr lang="en-IN" dirty="0"/>
              <a:t>Can be reused and composed like any other stream operation.</a:t>
            </a:r>
          </a:p>
          <a:p>
            <a:pPr>
              <a:lnSpc>
                <a:spcPct val="150000"/>
              </a:lnSpc>
            </a:pPr>
            <a:endParaRPr lang="en-IN" dirty="0"/>
          </a:p>
          <a:p>
            <a:pPr marL="0" indent="0">
              <a:lnSpc>
                <a:spcPct val="150000"/>
              </a:lnSpc>
              <a:buNone/>
            </a:pPr>
            <a:endParaRPr lang="en-IN" dirty="0"/>
          </a:p>
        </p:txBody>
      </p:sp>
      <p:sp>
        <p:nvSpPr>
          <p:cNvPr id="5" name="Slide Number Placeholder 4">
            <a:extLst>
              <a:ext uri="{FF2B5EF4-FFF2-40B4-BE49-F238E27FC236}">
                <a16:creationId xmlns:a16="http://schemas.microsoft.com/office/drawing/2014/main" id="{A9C38C1D-EAF0-6BF0-28C3-10A5B6C9FC07}"/>
              </a:ext>
            </a:extLst>
          </p:cNvPr>
          <p:cNvSpPr>
            <a:spLocks noGrp="1"/>
          </p:cNvSpPr>
          <p:nvPr>
            <p:ph type="sldNum" sz="quarter" idx="12"/>
          </p:nvPr>
        </p:nvSpPr>
        <p:spPr/>
        <p:txBody>
          <a:bodyPr/>
          <a:lstStyle/>
          <a:p>
            <a:fld id="{D57F1E4F-1CFF-5643-939E-217C01CDF565}" type="slidenum">
              <a:rPr lang="en-US" smtClean="0"/>
              <a:pPr/>
              <a:t>23</a:t>
            </a:fld>
            <a:endParaRPr lang="en-US" dirty="0"/>
          </a:p>
        </p:txBody>
      </p:sp>
      <p:pic>
        <p:nvPicPr>
          <p:cNvPr id="9" name="Picture 8">
            <a:extLst>
              <a:ext uri="{FF2B5EF4-FFF2-40B4-BE49-F238E27FC236}">
                <a16:creationId xmlns:a16="http://schemas.microsoft.com/office/drawing/2014/main" id="{B999582C-A091-3E88-0112-50AD25CFC6D6}"/>
              </a:ext>
            </a:extLst>
          </p:cNvPr>
          <p:cNvPicPr>
            <a:picLocks noChangeAspect="1"/>
          </p:cNvPicPr>
          <p:nvPr/>
        </p:nvPicPr>
        <p:blipFill>
          <a:blip r:embed="rId2"/>
          <a:stretch>
            <a:fillRect/>
          </a:stretch>
        </p:blipFill>
        <p:spPr>
          <a:xfrm>
            <a:off x="2154785" y="3945509"/>
            <a:ext cx="6908800" cy="2692400"/>
          </a:xfrm>
          <a:prstGeom prst="rect">
            <a:avLst/>
          </a:prstGeom>
        </p:spPr>
      </p:pic>
    </p:spTree>
    <p:extLst>
      <p:ext uri="{BB962C8B-B14F-4D97-AF65-F5344CB8AC3E}">
        <p14:creationId xmlns:p14="http://schemas.microsoft.com/office/powerpoint/2010/main" val="34138127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D283-9474-F845-DA08-297B13B07D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D5E3D4-C543-8C48-55A2-92A23A59E45E}"/>
              </a:ext>
            </a:extLst>
          </p:cNvPr>
          <p:cNvSpPr>
            <a:spLocks noGrp="1"/>
          </p:cNvSpPr>
          <p:nvPr>
            <p:ph type="title"/>
          </p:nvPr>
        </p:nvSpPr>
        <p:spPr/>
        <p:txBody>
          <a:bodyPr/>
          <a:lstStyle/>
          <a:p>
            <a:r>
              <a:rPr lang="en-IN" b="1" dirty="0"/>
              <a:t>Stream Gatherers </a:t>
            </a:r>
            <a:br>
              <a:rPr lang="en-IN" b="1" dirty="0"/>
            </a:br>
            <a:endParaRPr lang="en-US" dirty="0"/>
          </a:p>
        </p:txBody>
      </p:sp>
      <p:sp>
        <p:nvSpPr>
          <p:cNvPr id="5" name="Slide Number Placeholder 4">
            <a:extLst>
              <a:ext uri="{FF2B5EF4-FFF2-40B4-BE49-F238E27FC236}">
                <a16:creationId xmlns:a16="http://schemas.microsoft.com/office/drawing/2014/main" id="{5E717BCB-FFD4-00AC-5AAE-F79A40F8F5C3}"/>
              </a:ext>
            </a:extLst>
          </p:cNvPr>
          <p:cNvSpPr>
            <a:spLocks noGrp="1"/>
          </p:cNvSpPr>
          <p:nvPr>
            <p:ph type="sldNum" sz="quarter" idx="12"/>
          </p:nvPr>
        </p:nvSpPr>
        <p:spPr/>
        <p:txBody>
          <a:bodyPr/>
          <a:lstStyle/>
          <a:p>
            <a:fld id="{D57F1E4F-1CFF-5643-939E-217C01CDF565}" type="slidenum">
              <a:rPr lang="en-US" smtClean="0"/>
              <a:pPr/>
              <a:t>24</a:t>
            </a:fld>
            <a:endParaRPr lang="en-US" dirty="0"/>
          </a:p>
        </p:txBody>
      </p:sp>
      <p:pic>
        <p:nvPicPr>
          <p:cNvPr id="8" name="Picture 7">
            <a:extLst>
              <a:ext uri="{FF2B5EF4-FFF2-40B4-BE49-F238E27FC236}">
                <a16:creationId xmlns:a16="http://schemas.microsoft.com/office/drawing/2014/main" id="{9FD37094-1A3F-00BE-BA0B-E16103206E51}"/>
              </a:ext>
            </a:extLst>
          </p:cNvPr>
          <p:cNvPicPr>
            <a:picLocks noChangeAspect="1"/>
          </p:cNvPicPr>
          <p:nvPr/>
        </p:nvPicPr>
        <p:blipFill>
          <a:blip r:embed="rId2"/>
          <a:stretch>
            <a:fillRect/>
          </a:stretch>
        </p:blipFill>
        <p:spPr>
          <a:xfrm>
            <a:off x="1069848" y="4526877"/>
            <a:ext cx="7162800" cy="1460500"/>
          </a:xfrm>
          <a:prstGeom prst="rect">
            <a:avLst/>
          </a:prstGeom>
        </p:spPr>
      </p:pic>
      <p:sp>
        <p:nvSpPr>
          <p:cNvPr id="9" name="TextBox 8">
            <a:extLst>
              <a:ext uri="{FF2B5EF4-FFF2-40B4-BE49-F238E27FC236}">
                <a16:creationId xmlns:a16="http://schemas.microsoft.com/office/drawing/2014/main" id="{499EDA17-F609-4B35-FCFD-1BCEE5EA991F}"/>
              </a:ext>
            </a:extLst>
          </p:cNvPr>
          <p:cNvSpPr txBox="1"/>
          <p:nvPr/>
        </p:nvSpPr>
        <p:spPr>
          <a:xfrm>
            <a:off x="975559" y="4094656"/>
            <a:ext cx="2470548" cy="400110"/>
          </a:xfrm>
          <a:prstGeom prst="rect">
            <a:avLst/>
          </a:prstGeom>
          <a:noFill/>
        </p:spPr>
        <p:txBody>
          <a:bodyPr wrap="none" rtlCol="0">
            <a:spAutoFit/>
          </a:bodyPr>
          <a:lstStyle/>
          <a:p>
            <a:r>
              <a:rPr lang="en-US" sz="2000" b="1" dirty="0"/>
              <a:t>Built-in Gatherers</a:t>
            </a:r>
          </a:p>
        </p:txBody>
      </p:sp>
      <p:graphicFrame>
        <p:nvGraphicFramePr>
          <p:cNvPr id="13" name="Table 12">
            <a:extLst>
              <a:ext uri="{FF2B5EF4-FFF2-40B4-BE49-F238E27FC236}">
                <a16:creationId xmlns:a16="http://schemas.microsoft.com/office/drawing/2014/main" id="{30469EC2-932A-8C6F-D579-015770238096}"/>
              </a:ext>
            </a:extLst>
          </p:cNvPr>
          <p:cNvGraphicFramePr>
            <a:graphicFrameLocks noGrp="1"/>
          </p:cNvGraphicFramePr>
          <p:nvPr>
            <p:extLst>
              <p:ext uri="{D42A27DB-BD31-4B8C-83A1-F6EECF244321}">
                <p14:modId xmlns:p14="http://schemas.microsoft.com/office/powerpoint/2010/main" val="875444781"/>
              </p:ext>
            </p:extLst>
          </p:nvPr>
        </p:nvGraphicFramePr>
        <p:xfrm>
          <a:off x="975559" y="1600873"/>
          <a:ext cx="10058400" cy="2194560"/>
        </p:xfrm>
        <a:graphic>
          <a:graphicData uri="http://schemas.openxmlformats.org/drawingml/2006/table">
            <a:tbl>
              <a:tblPr/>
              <a:tblGrid>
                <a:gridCol w="1522314">
                  <a:extLst>
                    <a:ext uri="{9D8B030D-6E8A-4147-A177-3AD203B41FA5}">
                      <a16:colId xmlns:a16="http://schemas.microsoft.com/office/drawing/2014/main" val="2104925033"/>
                    </a:ext>
                  </a:extLst>
                </a:gridCol>
                <a:gridCol w="4694664">
                  <a:extLst>
                    <a:ext uri="{9D8B030D-6E8A-4147-A177-3AD203B41FA5}">
                      <a16:colId xmlns:a16="http://schemas.microsoft.com/office/drawing/2014/main" val="2460592562"/>
                    </a:ext>
                  </a:extLst>
                </a:gridCol>
                <a:gridCol w="3841422">
                  <a:extLst>
                    <a:ext uri="{9D8B030D-6E8A-4147-A177-3AD203B41FA5}">
                      <a16:colId xmlns:a16="http://schemas.microsoft.com/office/drawing/2014/main" val="3639327259"/>
                    </a:ext>
                  </a:extLst>
                </a:gridCol>
              </a:tblGrid>
              <a:tr h="0">
                <a:tc>
                  <a:txBody>
                    <a:bodyPr/>
                    <a:lstStyle/>
                    <a:p>
                      <a:pPr>
                        <a:buNone/>
                      </a:pPr>
                      <a:r>
                        <a:rPr lang="en-IN" sz="2000" b="1"/>
                        <a:t>Initializer</a:t>
                      </a:r>
                      <a:endParaRPr lang="en-IN" sz="2000"/>
                    </a:p>
                  </a:txBody>
                  <a:tcPr anchor="ctr">
                    <a:lnL>
                      <a:noFill/>
                    </a:lnL>
                    <a:lnR>
                      <a:noFill/>
                    </a:lnR>
                    <a:lnT>
                      <a:noFill/>
                    </a:lnT>
                    <a:lnB>
                      <a:noFill/>
                    </a:lnB>
                    <a:noFill/>
                  </a:tcPr>
                </a:tc>
                <a:tc>
                  <a:txBody>
                    <a:bodyPr/>
                    <a:lstStyle/>
                    <a:p>
                      <a:pPr>
                        <a:buNone/>
                      </a:pPr>
                      <a:r>
                        <a:rPr lang="en-IN" sz="2000" dirty="0"/>
                        <a:t>Creates internal state</a:t>
                      </a:r>
                    </a:p>
                  </a:txBody>
                  <a:tcPr anchor="ctr">
                    <a:lnL>
                      <a:noFill/>
                    </a:lnL>
                    <a:lnR>
                      <a:noFill/>
                    </a:lnR>
                    <a:lnT>
                      <a:noFill/>
                    </a:lnT>
                    <a:lnB>
                      <a:noFill/>
                    </a:lnB>
                    <a:noFill/>
                  </a:tcPr>
                </a:tc>
                <a:tc>
                  <a:txBody>
                    <a:bodyPr/>
                    <a:lstStyle/>
                    <a:p>
                      <a:pPr>
                        <a:buNone/>
                      </a:pPr>
                      <a:r>
                        <a:rPr lang="en-IN" sz="2000" dirty="0"/>
                        <a:t>() -&gt; S</a:t>
                      </a:r>
                    </a:p>
                  </a:txBody>
                  <a:tcPr anchor="ctr">
                    <a:lnL>
                      <a:noFill/>
                    </a:lnL>
                    <a:lnR>
                      <a:noFill/>
                    </a:lnR>
                    <a:lnT>
                      <a:noFill/>
                    </a:lnT>
                    <a:lnB>
                      <a:noFill/>
                    </a:lnB>
                    <a:noFill/>
                  </a:tcPr>
                </a:tc>
                <a:extLst>
                  <a:ext uri="{0D108BD9-81ED-4DB2-BD59-A6C34878D82A}">
                    <a16:rowId xmlns:a16="http://schemas.microsoft.com/office/drawing/2014/main" val="3420858964"/>
                  </a:ext>
                </a:extLst>
              </a:tr>
              <a:tr h="0">
                <a:tc>
                  <a:txBody>
                    <a:bodyPr/>
                    <a:lstStyle/>
                    <a:p>
                      <a:pPr>
                        <a:buNone/>
                      </a:pPr>
                      <a:r>
                        <a:rPr lang="en-IN" sz="2000" b="1"/>
                        <a:t>Integrator</a:t>
                      </a:r>
                      <a:endParaRPr lang="en-IN" sz="2000"/>
                    </a:p>
                  </a:txBody>
                  <a:tcPr anchor="ctr">
                    <a:lnL>
                      <a:noFill/>
                    </a:lnL>
                    <a:lnR>
                      <a:noFill/>
                    </a:lnR>
                    <a:lnT>
                      <a:noFill/>
                    </a:lnT>
                    <a:lnB>
                      <a:noFill/>
                    </a:lnB>
                    <a:noFill/>
                  </a:tcPr>
                </a:tc>
                <a:tc>
                  <a:txBody>
                    <a:bodyPr/>
                    <a:lstStyle/>
                    <a:p>
                      <a:pPr>
                        <a:buNone/>
                      </a:pPr>
                      <a:r>
                        <a:rPr lang="en-IN" sz="2000" dirty="0"/>
                        <a:t>Processes each input element</a:t>
                      </a:r>
                    </a:p>
                  </a:txBody>
                  <a:tcPr anchor="ctr">
                    <a:lnL>
                      <a:noFill/>
                    </a:lnL>
                    <a:lnR>
                      <a:noFill/>
                    </a:lnR>
                    <a:lnT>
                      <a:noFill/>
                    </a:lnT>
                    <a:lnB>
                      <a:noFill/>
                    </a:lnB>
                    <a:noFill/>
                  </a:tcPr>
                </a:tc>
                <a:tc>
                  <a:txBody>
                    <a:bodyPr/>
                    <a:lstStyle/>
                    <a:p>
                      <a:pPr>
                        <a:buNone/>
                      </a:pPr>
                      <a:r>
                        <a:rPr lang="en-IN" sz="2000" dirty="0"/>
                        <a:t>(S state, T input, Downstream&lt;T&gt; out) -&gt; void</a:t>
                      </a:r>
                    </a:p>
                  </a:txBody>
                  <a:tcPr anchor="ctr">
                    <a:lnL>
                      <a:noFill/>
                    </a:lnL>
                    <a:lnR>
                      <a:noFill/>
                    </a:lnR>
                    <a:lnT>
                      <a:noFill/>
                    </a:lnT>
                    <a:lnB>
                      <a:noFill/>
                    </a:lnB>
                    <a:noFill/>
                  </a:tcPr>
                </a:tc>
                <a:extLst>
                  <a:ext uri="{0D108BD9-81ED-4DB2-BD59-A6C34878D82A}">
                    <a16:rowId xmlns:a16="http://schemas.microsoft.com/office/drawing/2014/main" val="97072853"/>
                  </a:ext>
                </a:extLst>
              </a:tr>
              <a:tr h="0">
                <a:tc>
                  <a:txBody>
                    <a:bodyPr/>
                    <a:lstStyle/>
                    <a:p>
                      <a:pPr>
                        <a:buNone/>
                      </a:pPr>
                      <a:r>
                        <a:rPr lang="en-IN" sz="2000" b="1" dirty="0"/>
                        <a:t>Finisher</a:t>
                      </a:r>
                      <a:endParaRPr lang="en-IN" sz="2000" dirty="0"/>
                    </a:p>
                  </a:txBody>
                  <a:tcPr anchor="ctr">
                    <a:lnL>
                      <a:noFill/>
                    </a:lnL>
                    <a:lnR>
                      <a:noFill/>
                    </a:lnR>
                    <a:lnT>
                      <a:noFill/>
                    </a:lnT>
                    <a:lnB>
                      <a:noFill/>
                    </a:lnB>
                    <a:noFill/>
                  </a:tcPr>
                </a:tc>
                <a:tc>
                  <a:txBody>
                    <a:bodyPr/>
                    <a:lstStyle/>
                    <a:p>
                      <a:pPr>
                        <a:buNone/>
                      </a:pPr>
                      <a:r>
                        <a:rPr lang="en-IN" sz="2000" dirty="0"/>
                        <a:t>Emits remaining output and completes</a:t>
                      </a:r>
                    </a:p>
                  </a:txBody>
                  <a:tcPr anchor="ctr">
                    <a:lnL>
                      <a:noFill/>
                    </a:lnL>
                    <a:lnR>
                      <a:noFill/>
                    </a:lnR>
                    <a:lnT>
                      <a:noFill/>
                    </a:lnT>
                    <a:lnB>
                      <a:noFill/>
                    </a:lnB>
                    <a:noFill/>
                  </a:tcPr>
                </a:tc>
                <a:tc>
                  <a:txBody>
                    <a:bodyPr/>
                    <a:lstStyle/>
                    <a:p>
                      <a:pPr>
                        <a:buNone/>
                      </a:pPr>
                      <a:r>
                        <a:rPr lang="en-IN" sz="2000" dirty="0"/>
                        <a:t>(S state, Downstream&lt;T&gt; out) -&gt; void</a:t>
                      </a:r>
                    </a:p>
                  </a:txBody>
                  <a:tcPr anchor="ctr">
                    <a:lnL>
                      <a:noFill/>
                    </a:lnL>
                    <a:lnR>
                      <a:noFill/>
                    </a:lnR>
                    <a:lnT>
                      <a:noFill/>
                    </a:lnT>
                    <a:lnB>
                      <a:noFill/>
                    </a:lnB>
                    <a:noFill/>
                  </a:tcPr>
                </a:tc>
                <a:extLst>
                  <a:ext uri="{0D108BD9-81ED-4DB2-BD59-A6C34878D82A}">
                    <a16:rowId xmlns:a16="http://schemas.microsoft.com/office/drawing/2014/main" val="992124559"/>
                  </a:ext>
                </a:extLst>
              </a:tr>
              <a:tr h="0">
                <a:tc>
                  <a:txBody>
                    <a:bodyPr/>
                    <a:lstStyle/>
                    <a:p>
                      <a:pPr>
                        <a:buNone/>
                      </a:pPr>
                      <a:r>
                        <a:rPr lang="en-IN" sz="2000" b="1" dirty="0"/>
                        <a:t>Combiner</a:t>
                      </a:r>
                      <a:endParaRPr lang="en-IN" sz="2000" dirty="0"/>
                    </a:p>
                  </a:txBody>
                  <a:tcPr anchor="ctr">
                    <a:lnL>
                      <a:noFill/>
                    </a:lnL>
                    <a:lnR>
                      <a:noFill/>
                    </a:lnR>
                    <a:lnT>
                      <a:noFill/>
                    </a:lnT>
                    <a:lnB>
                      <a:noFill/>
                    </a:lnB>
                    <a:noFill/>
                  </a:tcPr>
                </a:tc>
                <a:tc>
                  <a:txBody>
                    <a:bodyPr/>
                    <a:lstStyle/>
                    <a:p>
                      <a:pPr>
                        <a:buNone/>
                      </a:pPr>
                      <a:r>
                        <a:rPr lang="en-IN" sz="2000"/>
                        <a:t>Merges state when parallelized</a:t>
                      </a:r>
                    </a:p>
                  </a:txBody>
                  <a:tcPr anchor="ctr">
                    <a:lnL>
                      <a:noFill/>
                    </a:lnL>
                    <a:lnR>
                      <a:noFill/>
                    </a:lnR>
                    <a:lnT>
                      <a:noFill/>
                    </a:lnT>
                    <a:lnB>
                      <a:noFill/>
                    </a:lnB>
                    <a:noFill/>
                  </a:tcPr>
                </a:tc>
                <a:tc>
                  <a:txBody>
                    <a:bodyPr/>
                    <a:lstStyle/>
                    <a:p>
                      <a:pPr>
                        <a:buNone/>
                      </a:pPr>
                      <a:r>
                        <a:rPr lang="en-IN" sz="2000" dirty="0"/>
                        <a:t>(S left, S right) -&gt; S</a:t>
                      </a:r>
                    </a:p>
                  </a:txBody>
                  <a:tcPr anchor="ctr">
                    <a:lnL>
                      <a:noFill/>
                    </a:lnL>
                    <a:lnR>
                      <a:noFill/>
                    </a:lnR>
                    <a:lnT>
                      <a:noFill/>
                    </a:lnT>
                    <a:lnB>
                      <a:noFill/>
                    </a:lnB>
                    <a:noFill/>
                  </a:tcPr>
                </a:tc>
                <a:extLst>
                  <a:ext uri="{0D108BD9-81ED-4DB2-BD59-A6C34878D82A}">
                    <a16:rowId xmlns:a16="http://schemas.microsoft.com/office/drawing/2014/main" val="2133773802"/>
                  </a:ext>
                </a:extLst>
              </a:tr>
            </a:tbl>
          </a:graphicData>
        </a:graphic>
      </p:graphicFrame>
    </p:spTree>
    <p:extLst>
      <p:ext uri="{BB962C8B-B14F-4D97-AF65-F5344CB8AC3E}">
        <p14:creationId xmlns:p14="http://schemas.microsoft.com/office/powerpoint/2010/main" val="164836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2A251-832A-9896-9CF5-0F259C79A9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3D51C7-2E34-F634-9AAF-EF56AA29F67D}"/>
              </a:ext>
            </a:extLst>
          </p:cNvPr>
          <p:cNvSpPr>
            <a:spLocks noGrp="1"/>
          </p:cNvSpPr>
          <p:nvPr>
            <p:ph type="title"/>
          </p:nvPr>
        </p:nvSpPr>
        <p:spPr/>
        <p:txBody>
          <a:bodyPr/>
          <a:lstStyle/>
          <a:p>
            <a:r>
              <a:rPr lang="en-IN" b="1" dirty="0"/>
              <a:t>Scoped values</a:t>
            </a:r>
            <a:br>
              <a:rPr lang="en-IN" b="1" dirty="0"/>
            </a:br>
            <a:endParaRPr lang="en-US" dirty="0"/>
          </a:p>
        </p:txBody>
      </p:sp>
      <p:sp>
        <p:nvSpPr>
          <p:cNvPr id="3" name="Content Placeholder 2">
            <a:extLst>
              <a:ext uri="{FF2B5EF4-FFF2-40B4-BE49-F238E27FC236}">
                <a16:creationId xmlns:a16="http://schemas.microsoft.com/office/drawing/2014/main" id="{3AFD1128-0A72-B093-F099-0BA79A956FC9}"/>
              </a:ext>
            </a:extLst>
          </p:cNvPr>
          <p:cNvSpPr>
            <a:spLocks noGrp="1"/>
          </p:cNvSpPr>
          <p:nvPr>
            <p:ph idx="1"/>
          </p:nvPr>
        </p:nvSpPr>
        <p:spPr>
          <a:xfrm>
            <a:off x="1063752" y="1623840"/>
            <a:ext cx="8915400" cy="3777622"/>
          </a:xfrm>
        </p:spPr>
        <p:txBody>
          <a:bodyPr>
            <a:noAutofit/>
          </a:bodyPr>
          <a:lstStyle/>
          <a:p>
            <a:pPr>
              <a:lnSpc>
                <a:spcPct val="150000"/>
              </a:lnSpc>
            </a:pPr>
            <a:r>
              <a:rPr lang="en-IN" dirty="0"/>
              <a:t>Introduced in </a:t>
            </a:r>
            <a:r>
              <a:rPr lang="en-IN" b="1" dirty="0"/>
              <a:t>Java 25 </a:t>
            </a:r>
            <a:r>
              <a:rPr lang="en-IN" dirty="0"/>
              <a:t>(standard)</a:t>
            </a:r>
          </a:p>
          <a:p>
            <a:pPr>
              <a:lnSpc>
                <a:spcPct val="150000"/>
              </a:lnSpc>
            </a:pPr>
            <a:r>
              <a:rPr lang="en-IN" dirty="0"/>
              <a:t>A cleaner and safer alternative to </a:t>
            </a:r>
            <a:r>
              <a:rPr lang="en-IN" dirty="0" err="1"/>
              <a:t>ThreadLocal</a:t>
            </a:r>
            <a:endParaRPr lang="en-IN" dirty="0"/>
          </a:p>
          <a:p>
            <a:pPr>
              <a:lnSpc>
                <a:spcPct val="150000"/>
              </a:lnSpc>
            </a:pPr>
            <a:r>
              <a:rPr lang="en-IN" dirty="0"/>
              <a:t>Works well with concurrent code and structured concurrency</a:t>
            </a:r>
          </a:p>
          <a:p>
            <a:pPr>
              <a:lnSpc>
                <a:spcPct val="150000"/>
              </a:lnSpc>
            </a:pPr>
            <a:r>
              <a:rPr lang="en-IN" dirty="0"/>
              <a:t>Immutable by design → avoids cross-thread data leaks</a:t>
            </a:r>
          </a:p>
          <a:p>
            <a:pPr>
              <a:lnSpc>
                <a:spcPct val="150000"/>
              </a:lnSpc>
            </a:pPr>
            <a:r>
              <a:rPr lang="en-IN" dirty="0"/>
              <a:t>Share context data safely without passing it through method parameters</a:t>
            </a:r>
          </a:p>
          <a:p>
            <a:pPr>
              <a:lnSpc>
                <a:spcPct val="150000"/>
              </a:lnSpc>
            </a:pPr>
            <a:r>
              <a:rPr lang="en-IN" dirty="0"/>
              <a:t>Useful for request-scoped values (e.g., Request ID, User ID, Logging context)</a:t>
            </a:r>
          </a:p>
          <a:p>
            <a:pPr>
              <a:lnSpc>
                <a:spcPct val="150000"/>
              </a:lnSpc>
            </a:pPr>
            <a:endParaRPr lang="en-IN" dirty="0"/>
          </a:p>
        </p:txBody>
      </p:sp>
      <p:sp>
        <p:nvSpPr>
          <p:cNvPr id="5" name="Slide Number Placeholder 4">
            <a:extLst>
              <a:ext uri="{FF2B5EF4-FFF2-40B4-BE49-F238E27FC236}">
                <a16:creationId xmlns:a16="http://schemas.microsoft.com/office/drawing/2014/main" id="{0A84048D-6553-69EE-4739-21F4FC32DA28}"/>
              </a:ext>
            </a:extLst>
          </p:cNvPr>
          <p:cNvSpPr>
            <a:spLocks noGrp="1"/>
          </p:cNvSpPr>
          <p:nvPr>
            <p:ph type="sldNum" sz="quarter" idx="12"/>
          </p:nvPr>
        </p:nvSpPr>
        <p:spPr/>
        <p:txBody>
          <a:bodyPr/>
          <a:lstStyle/>
          <a:p>
            <a:fld id="{D57F1E4F-1CFF-5643-939E-217C01CDF565}" type="slidenum">
              <a:rPr lang="en-US" smtClean="0"/>
              <a:pPr/>
              <a:t>25</a:t>
            </a:fld>
            <a:endParaRPr lang="en-US" dirty="0"/>
          </a:p>
        </p:txBody>
      </p:sp>
    </p:spTree>
    <p:extLst>
      <p:ext uri="{BB962C8B-B14F-4D97-AF65-F5344CB8AC3E}">
        <p14:creationId xmlns:p14="http://schemas.microsoft.com/office/powerpoint/2010/main" val="1783755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8BE3C-9CAB-91B8-20FF-4A2872D1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3A22E-E550-CC08-0758-BDF17DAA35F5}"/>
              </a:ext>
            </a:extLst>
          </p:cNvPr>
          <p:cNvSpPr>
            <a:spLocks noGrp="1"/>
          </p:cNvSpPr>
          <p:nvPr>
            <p:ph type="title"/>
          </p:nvPr>
        </p:nvSpPr>
        <p:spPr/>
        <p:txBody>
          <a:bodyPr/>
          <a:lstStyle/>
          <a:p>
            <a:r>
              <a:rPr lang="en-IN" b="1" dirty="0"/>
              <a:t>Flexible constructor bodies</a:t>
            </a:r>
            <a:endParaRPr lang="en-US" dirty="0"/>
          </a:p>
        </p:txBody>
      </p:sp>
      <p:sp>
        <p:nvSpPr>
          <p:cNvPr id="3" name="Content Placeholder 2">
            <a:extLst>
              <a:ext uri="{FF2B5EF4-FFF2-40B4-BE49-F238E27FC236}">
                <a16:creationId xmlns:a16="http://schemas.microsoft.com/office/drawing/2014/main" id="{DBC401EE-25CC-37F9-0A8B-7E5E6C9BB957}"/>
              </a:ext>
            </a:extLst>
          </p:cNvPr>
          <p:cNvSpPr>
            <a:spLocks noGrp="1"/>
          </p:cNvSpPr>
          <p:nvPr>
            <p:ph idx="1"/>
          </p:nvPr>
        </p:nvSpPr>
        <p:spPr>
          <a:xfrm>
            <a:off x="1171892" y="1664970"/>
            <a:ext cx="8915400" cy="3777622"/>
          </a:xfrm>
        </p:spPr>
        <p:txBody>
          <a:bodyPr>
            <a:noAutofit/>
          </a:bodyPr>
          <a:lstStyle/>
          <a:p>
            <a:pPr>
              <a:lnSpc>
                <a:spcPct val="150000"/>
              </a:lnSpc>
            </a:pPr>
            <a:r>
              <a:rPr lang="en-IN" dirty="0"/>
              <a:t>Introduced in </a:t>
            </a:r>
            <a:r>
              <a:rPr lang="en-IN" b="1" dirty="0"/>
              <a:t>Java 25 </a:t>
            </a:r>
          </a:p>
          <a:p>
            <a:pPr>
              <a:lnSpc>
                <a:spcPct val="150000"/>
              </a:lnSpc>
            </a:pPr>
            <a:r>
              <a:rPr lang="en-IN" dirty="0"/>
              <a:t>Allows more flexible initialization in constructors — statements can now appear </a:t>
            </a:r>
            <a:r>
              <a:rPr lang="en-IN" b="1" dirty="0"/>
              <a:t>before</a:t>
            </a:r>
            <a:r>
              <a:rPr lang="en-IN" dirty="0"/>
              <a:t> delegating to another constructor (this(...)) or superclass constructor (super(...)).</a:t>
            </a:r>
          </a:p>
          <a:p>
            <a:pPr>
              <a:lnSpc>
                <a:spcPct val="150000"/>
              </a:lnSpc>
            </a:pPr>
            <a:r>
              <a:rPr lang="en-IN" dirty="0"/>
              <a:t>Removes long-standing restrictions on constructor structure</a:t>
            </a:r>
          </a:p>
          <a:p>
            <a:pPr>
              <a:lnSpc>
                <a:spcPct val="150000"/>
              </a:lnSpc>
            </a:pPr>
            <a:r>
              <a:rPr lang="en-IN" dirty="0"/>
              <a:t>Enables validation or setup before calling another constructor</a:t>
            </a:r>
          </a:p>
          <a:p>
            <a:pPr>
              <a:lnSpc>
                <a:spcPct val="150000"/>
              </a:lnSpc>
            </a:pPr>
            <a:r>
              <a:rPr lang="en-IN" dirty="0"/>
              <a:t>Makes constructor overloading more natural and expressive</a:t>
            </a:r>
          </a:p>
        </p:txBody>
      </p:sp>
      <p:sp>
        <p:nvSpPr>
          <p:cNvPr id="5" name="Slide Number Placeholder 4">
            <a:extLst>
              <a:ext uri="{FF2B5EF4-FFF2-40B4-BE49-F238E27FC236}">
                <a16:creationId xmlns:a16="http://schemas.microsoft.com/office/drawing/2014/main" id="{57EF0F4E-F16C-BB61-0CAD-A46E4C8D16F3}"/>
              </a:ext>
            </a:extLst>
          </p:cNvPr>
          <p:cNvSpPr>
            <a:spLocks noGrp="1"/>
          </p:cNvSpPr>
          <p:nvPr>
            <p:ph type="sldNum" sz="quarter" idx="12"/>
          </p:nvPr>
        </p:nvSpPr>
        <p:spPr/>
        <p:txBody>
          <a:bodyPr/>
          <a:lstStyle/>
          <a:p>
            <a:fld id="{D57F1E4F-1CFF-5643-939E-217C01CDF565}" type="slidenum">
              <a:rPr lang="en-US" smtClean="0"/>
              <a:pPr/>
              <a:t>26</a:t>
            </a:fld>
            <a:endParaRPr lang="en-US" dirty="0"/>
          </a:p>
        </p:txBody>
      </p:sp>
    </p:spTree>
    <p:extLst>
      <p:ext uri="{BB962C8B-B14F-4D97-AF65-F5344CB8AC3E}">
        <p14:creationId xmlns:p14="http://schemas.microsoft.com/office/powerpoint/2010/main" val="22599037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4DAD0-5E43-403B-7AB5-3A65905010C9}"/>
              </a:ext>
            </a:extLst>
          </p:cNvPr>
          <p:cNvSpPr>
            <a:spLocks noGrp="1"/>
          </p:cNvSpPr>
          <p:nvPr>
            <p:ph type="title"/>
          </p:nvPr>
        </p:nvSpPr>
        <p:spPr/>
        <p:txBody>
          <a:bodyPr>
            <a:noAutofit/>
          </a:bodyPr>
          <a:lstStyle/>
          <a:p>
            <a:r>
              <a:rPr lang="en-IN" sz="4000" b="1" dirty="0"/>
              <a:t>Motivation for Sequenced collection(J21)– lack of consistent way</a:t>
            </a:r>
            <a:br>
              <a:rPr lang="en-IN" sz="4000" b="1" dirty="0"/>
            </a:br>
            <a:endParaRPr lang="en-US" sz="4000" dirty="0"/>
          </a:p>
        </p:txBody>
      </p:sp>
      <p:sp>
        <p:nvSpPr>
          <p:cNvPr id="4" name="Slide Number Placeholder 3">
            <a:extLst>
              <a:ext uri="{FF2B5EF4-FFF2-40B4-BE49-F238E27FC236}">
                <a16:creationId xmlns:a16="http://schemas.microsoft.com/office/drawing/2014/main" id="{45C97266-7F22-B7D3-E01F-0C7FCA543415}"/>
              </a:ext>
            </a:extLst>
          </p:cNvPr>
          <p:cNvSpPr>
            <a:spLocks noGrp="1"/>
          </p:cNvSpPr>
          <p:nvPr>
            <p:ph type="sldNum" sz="quarter" idx="12"/>
          </p:nvPr>
        </p:nvSpPr>
        <p:spPr/>
        <p:txBody>
          <a:bodyPr/>
          <a:lstStyle/>
          <a:p>
            <a:fld id="{D57F1E4F-1CFF-5643-939E-217C01CDF565}" type="slidenum">
              <a:rPr lang="en-US" smtClean="0"/>
              <a:pPr/>
              <a:t>27</a:t>
            </a:fld>
            <a:endParaRPr lang="en-US" dirty="0"/>
          </a:p>
        </p:txBody>
      </p:sp>
      <p:pic>
        <p:nvPicPr>
          <p:cNvPr id="5" name="Content Placeholder 3">
            <a:extLst>
              <a:ext uri="{FF2B5EF4-FFF2-40B4-BE49-F238E27FC236}">
                <a16:creationId xmlns:a16="http://schemas.microsoft.com/office/drawing/2014/main" id="{F7EA3F70-D894-CF7F-E7D0-1906F69BE1A4}"/>
              </a:ext>
            </a:extLst>
          </p:cNvPr>
          <p:cNvPicPr>
            <a:picLocks noGrp="1" noChangeAspect="1"/>
          </p:cNvPicPr>
          <p:nvPr>
            <p:ph idx="1"/>
          </p:nvPr>
        </p:nvPicPr>
        <p:blipFill>
          <a:blip r:embed="rId2"/>
          <a:stretch>
            <a:fillRect/>
          </a:stretch>
        </p:blipFill>
        <p:spPr>
          <a:xfrm>
            <a:off x="1936750" y="2438400"/>
            <a:ext cx="8318500" cy="2501900"/>
          </a:xfrm>
          <a:prstGeom prst="rect">
            <a:avLst/>
          </a:prstGeom>
        </p:spPr>
      </p:pic>
    </p:spTree>
    <p:extLst>
      <p:ext uri="{BB962C8B-B14F-4D97-AF65-F5344CB8AC3E}">
        <p14:creationId xmlns:p14="http://schemas.microsoft.com/office/powerpoint/2010/main" val="394670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D8A4-F13E-ABD5-B28A-05AF945235D2}"/>
              </a:ext>
            </a:extLst>
          </p:cNvPr>
          <p:cNvSpPr>
            <a:spLocks noGrp="1"/>
          </p:cNvSpPr>
          <p:nvPr>
            <p:ph type="title"/>
          </p:nvPr>
        </p:nvSpPr>
        <p:spPr/>
        <p:txBody>
          <a:bodyPr/>
          <a:lstStyle/>
          <a:p>
            <a:r>
              <a:rPr lang="en-IN" b="1" dirty="0"/>
              <a:t>Sequenced Collections</a:t>
            </a:r>
            <a:br>
              <a:rPr lang="en-IN" b="1" dirty="0"/>
            </a:br>
            <a:endParaRPr lang="en-US" dirty="0"/>
          </a:p>
        </p:txBody>
      </p:sp>
      <p:sp>
        <p:nvSpPr>
          <p:cNvPr id="4" name="Slide Number Placeholder 3">
            <a:extLst>
              <a:ext uri="{FF2B5EF4-FFF2-40B4-BE49-F238E27FC236}">
                <a16:creationId xmlns:a16="http://schemas.microsoft.com/office/drawing/2014/main" id="{285B8F82-783C-AD74-DC3B-086756E96485}"/>
              </a:ext>
            </a:extLst>
          </p:cNvPr>
          <p:cNvSpPr>
            <a:spLocks noGrp="1"/>
          </p:cNvSpPr>
          <p:nvPr>
            <p:ph type="sldNum" sz="quarter" idx="12"/>
          </p:nvPr>
        </p:nvSpPr>
        <p:spPr/>
        <p:txBody>
          <a:bodyPr/>
          <a:lstStyle/>
          <a:p>
            <a:fld id="{D57F1E4F-1CFF-5643-939E-217C01CDF565}" type="slidenum">
              <a:rPr lang="en-US" smtClean="0"/>
              <a:pPr/>
              <a:t>28</a:t>
            </a:fld>
            <a:endParaRPr lang="en-US" dirty="0"/>
          </a:p>
        </p:txBody>
      </p:sp>
      <p:pic>
        <p:nvPicPr>
          <p:cNvPr id="5" name="Content Placeholder 3">
            <a:extLst>
              <a:ext uri="{FF2B5EF4-FFF2-40B4-BE49-F238E27FC236}">
                <a16:creationId xmlns:a16="http://schemas.microsoft.com/office/drawing/2014/main" id="{9C64DD3E-0D18-2A66-F25D-08F3A49274C4}"/>
              </a:ext>
            </a:extLst>
          </p:cNvPr>
          <p:cNvPicPr>
            <a:picLocks noGrp="1" noChangeAspect="1"/>
          </p:cNvPicPr>
          <p:nvPr>
            <p:ph idx="1"/>
          </p:nvPr>
        </p:nvPicPr>
        <p:blipFill>
          <a:blip r:embed="rId2"/>
          <a:stretch>
            <a:fillRect/>
          </a:stretch>
        </p:blipFill>
        <p:spPr>
          <a:xfrm>
            <a:off x="1234792" y="1544753"/>
            <a:ext cx="9083332" cy="4481861"/>
          </a:xfrm>
          <a:prstGeom prst="rect">
            <a:avLst/>
          </a:prstGeom>
        </p:spPr>
      </p:pic>
    </p:spTree>
    <p:extLst>
      <p:ext uri="{BB962C8B-B14F-4D97-AF65-F5344CB8AC3E}">
        <p14:creationId xmlns:p14="http://schemas.microsoft.com/office/powerpoint/2010/main" val="6836161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FCC64-779E-7ADC-4E75-9E7776CE6729}"/>
              </a:ext>
            </a:extLst>
          </p:cNvPr>
          <p:cNvSpPr>
            <a:spLocks noGrp="1"/>
          </p:cNvSpPr>
          <p:nvPr>
            <p:ph type="title"/>
          </p:nvPr>
        </p:nvSpPr>
        <p:spPr/>
        <p:txBody>
          <a:bodyPr/>
          <a:lstStyle/>
          <a:p>
            <a:r>
              <a:rPr lang="en-US" dirty="0"/>
              <a:t>Methods in the new interface</a:t>
            </a:r>
          </a:p>
        </p:txBody>
      </p:sp>
      <p:sp>
        <p:nvSpPr>
          <p:cNvPr id="4" name="Slide Number Placeholder 3">
            <a:extLst>
              <a:ext uri="{FF2B5EF4-FFF2-40B4-BE49-F238E27FC236}">
                <a16:creationId xmlns:a16="http://schemas.microsoft.com/office/drawing/2014/main" id="{54C077EE-7AFD-CD63-84C3-7EC3649F68AF}"/>
              </a:ext>
            </a:extLst>
          </p:cNvPr>
          <p:cNvSpPr>
            <a:spLocks noGrp="1"/>
          </p:cNvSpPr>
          <p:nvPr>
            <p:ph type="sldNum" sz="quarter" idx="12"/>
          </p:nvPr>
        </p:nvSpPr>
        <p:spPr/>
        <p:txBody>
          <a:bodyPr/>
          <a:lstStyle/>
          <a:p>
            <a:fld id="{D57F1E4F-1CFF-5643-939E-217C01CDF565}" type="slidenum">
              <a:rPr lang="en-US" smtClean="0"/>
              <a:pPr/>
              <a:t>29</a:t>
            </a:fld>
            <a:endParaRPr lang="en-US" dirty="0"/>
          </a:p>
        </p:txBody>
      </p:sp>
      <p:pic>
        <p:nvPicPr>
          <p:cNvPr id="5" name="Content Placeholder 3">
            <a:extLst>
              <a:ext uri="{FF2B5EF4-FFF2-40B4-BE49-F238E27FC236}">
                <a16:creationId xmlns:a16="http://schemas.microsoft.com/office/drawing/2014/main" id="{1ACB5479-7469-3DE0-DB7F-311605D57DDE}"/>
              </a:ext>
            </a:extLst>
          </p:cNvPr>
          <p:cNvPicPr>
            <a:picLocks noGrp="1" noChangeAspect="1"/>
          </p:cNvPicPr>
          <p:nvPr>
            <p:ph idx="1"/>
          </p:nvPr>
        </p:nvPicPr>
        <p:blipFill>
          <a:blip r:embed="rId2"/>
          <a:stretch>
            <a:fillRect/>
          </a:stretch>
        </p:blipFill>
        <p:spPr>
          <a:xfrm>
            <a:off x="7684554" y="1626072"/>
            <a:ext cx="3302000" cy="2425700"/>
          </a:xfrm>
          <a:prstGeom prst="rect">
            <a:avLst/>
          </a:prstGeom>
        </p:spPr>
      </p:pic>
      <p:pic>
        <p:nvPicPr>
          <p:cNvPr id="6" name="Picture 5">
            <a:extLst>
              <a:ext uri="{FF2B5EF4-FFF2-40B4-BE49-F238E27FC236}">
                <a16:creationId xmlns:a16="http://schemas.microsoft.com/office/drawing/2014/main" id="{CF5392D5-16A8-8E2B-0715-3FA331C0C24E}"/>
              </a:ext>
            </a:extLst>
          </p:cNvPr>
          <p:cNvPicPr>
            <a:picLocks noChangeAspect="1"/>
          </p:cNvPicPr>
          <p:nvPr/>
        </p:nvPicPr>
        <p:blipFill>
          <a:blip r:embed="rId3"/>
          <a:stretch>
            <a:fillRect/>
          </a:stretch>
        </p:blipFill>
        <p:spPr>
          <a:xfrm>
            <a:off x="7624586" y="3820668"/>
            <a:ext cx="3403600" cy="2552700"/>
          </a:xfrm>
          <a:prstGeom prst="rect">
            <a:avLst/>
          </a:prstGeom>
        </p:spPr>
      </p:pic>
      <p:sp>
        <p:nvSpPr>
          <p:cNvPr id="7" name="TextBox 6">
            <a:extLst>
              <a:ext uri="{FF2B5EF4-FFF2-40B4-BE49-F238E27FC236}">
                <a16:creationId xmlns:a16="http://schemas.microsoft.com/office/drawing/2014/main" id="{CA522780-7495-AEA2-46EE-8E97486089B1}"/>
              </a:ext>
            </a:extLst>
          </p:cNvPr>
          <p:cNvSpPr txBox="1"/>
          <p:nvPr/>
        </p:nvSpPr>
        <p:spPr>
          <a:xfrm>
            <a:off x="1236473" y="2093976"/>
            <a:ext cx="6096000" cy="3170099"/>
          </a:xfrm>
          <a:prstGeom prst="rect">
            <a:avLst/>
          </a:prstGeom>
          <a:noFill/>
        </p:spPr>
        <p:txBody>
          <a:bodyPr wrap="square">
            <a:spAutoFit/>
          </a:bodyPr>
          <a:lstStyle/>
          <a:p>
            <a:r>
              <a:rPr lang="en-IN" sz="2000" b="1" dirty="0"/>
              <a:t>Compatibility:</a:t>
            </a:r>
          </a:p>
          <a:p>
            <a:pPr marL="285750" indent="-285750">
              <a:buFont typeface="Arial" panose="020B0604020202020204" pitchFamily="34" charset="0"/>
              <a:buChar char="•"/>
            </a:pPr>
            <a:endParaRPr lang="en-IN" sz="2000" b="1" dirty="0"/>
          </a:p>
          <a:p>
            <a:pPr marL="285750" indent="-285750">
              <a:buFont typeface="Arial" panose="020B0604020202020204" pitchFamily="34" charset="0"/>
              <a:buChar char="•"/>
            </a:pPr>
            <a:r>
              <a:rPr lang="en-IN" sz="2000" dirty="0"/>
              <a:t>If your class already has a </a:t>
            </a:r>
            <a:r>
              <a:rPr lang="en-IN" sz="2000" dirty="0" err="1"/>
              <a:t>getFirst</a:t>
            </a:r>
            <a:r>
              <a:rPr lang="en-IN" sz="2000" dirty="0"/>
              <a:t>() method with the same signature, your method will </a:t>
            </a:r>
            <a:r>
              <a:rPr lang="en-IN" sz="2000" b="1" dirty="0"/>
              <a:t>override</a:t>
            </a:r>
            <a:r>
              <a:rPr lang="en-IN" sz="2000" dirty="0"/>
              <a:t> the default method from the interface.</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If the method signature is </a:t>
            </a:r>
            <a:r>
              <a:rPr lang="en-IN" sz="2000" b="1" dirty="0"/>
              <a:t>different</a:t>
            </a:r>
            <a:r>
              <a:rPr lang="en-IN" sz="2000" dirty="0"/>
              <a:t> (for example, different return), you will get a </a:t>
            </a:r>
            <a:r>
              <a:rPr lang="en-IN" sz="2000" b="1" dirty="0"/>
              <a:t>compile-time error</a:t>
            </a:r>
            <a:r>
              <a:rPr lang="en-IN" sz="2000" dirty="0"/>
              <a:t> due to method signature conflict or ambiguity</a:t>
            </a:r>
          </a:p>
        </p:txBody>
      </p:sp>
    </p:spTree>
    <p:extLst>
      <p:ext uri="{BB962C8B-B14F-4D97-AF65-F5344CB8AC3E}">
        <p14:creationId xmlns:p14="http://schemas.microsoft.com/office/powerpoint/2010/main" val="35880533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87A4E-ADD1-96E7-90EC-DE2909E20FD6}"/>
              </a:ext>
            </a:extLst>
          </p:cNvPr>
          <p:cNvSpPr>
            <a:spLocks noGrp="1"/>
          </p:cNvSpPr>
          <p:nvPr>
            <p:ph type="title"/>
          </p:nvPr>
        </p:nvSpPr>
        <p:spPr/>
        <p:txBody>
          <a:bodyPr/>
          <a:lstStyle/>
          <a:p>
            <a:r>
              <a:rPr lang="en-US" dirty="0"/>
              <a:t>Motivation for unnamed classes(J21)</a:t>
            </a:r>
          </a:p>
        </p:txBody>
      </p:sp>
      <p:sp>
        <p:nvSpPr>
          <p:cNvPr id="3" name="Content Placeholder 2">
            <a:extLst>
              <a:ext uri="{FF2B5EF4-FFF2-40B4-BE49-F238E27FC236}">
                <a16:creationId xmlns:a16="http://schemas.microsoft.com/office/drawing/2014/main" id="{270E54B0-6A2D-9E9E-F08B-BDC858E3C0A9}"/>
              </a:ext>
            </a:extLst>
          </p:cNvPr>
          <p:cNvSpPr>
            <a:spLocks noGrp="1"/>
          </p:cNvSpPr>
          <p:nvPr>
            <p:ph idx="1"/>
          </p:nvPr>
        </p:nvSpPr>
        <p:spPr/>
        <p:txBody>
          <a:bodyPr/>
          <a:lstStyle/>
          <a:p>
            <a:r>
              <a:rPr lang="en-IN" b="1" dirty="0"/>
              <a:t>Reducing initial barriers for learners:</a:t>
            </a:r>
            <a:r>
              <a:rPr lang="en-IN" dirty="0"/>
              <a:t> Students can write simple programs without needing to declare a class explicitly or deal with static context and access modifiers</a:t>
            </a:r>
          </a:p>
          <a:p>
            <a:endParaRPr lang="en-IN" dirty="0"/>
          </a:p>
          <a:p>
            <a:r>
              <a:rPr lang="en-IN" b="1" dirty="0"/>
              <a:t>More concise and intuitive syntax:</a:t>
            </a:r>
            <a:r>
              <a:rPr lang="en-IN" dirty="0"/>
              <a:t> Instance main methods allow the main method to be non-static and without the traditional String[] argument.</a:t>
            </a:r>
          </a:p>
          <a:p>
            <a:endParaRPr lang="en-IN" dirty="0"/>
          </a:p>
          <a:p>
            <a:r>
              <a:rPr lang="en-IN" b="1" dirty="0"/>
              <a:t>Multiple unnamed classes and programs:</a:t>
            </a:r>
            <a:r>
              <a:rPr lang="en-IN" dirty="0"/>
              <a:t> Multiple unnamed classes can exist in the unnamed package/module, each representing a standalone program, which is useful for quick tests</a:t>
            </a:r>
            <a:endParaRPr lang="en-US" dirty="0"/>
          </a:p>
          <a:p>
            <a:endParaRPr lang="en-US" dirty="0"/>
          </a:p>
        </p:txBody>
      </p:sp>
      <p:sp>
        <p:nvSpPr>
          <p:cNvPr id="4" name="Slide Number Placeholder 3">
            <a:extLst>
              <a:ext uri="{FF2B5EF4-FFF2-40B4-BE49-F238E27FC236}">
                <a16:creationId xmlns:a16="http://schemas.microsoft.com/office/drawing/2014/main" id="{85112C0C-7792-D553-44E0-8E1B58C1A839}"/>
              </a:ext>
            </a:extLst>
          </p:cNvPr>
          <p:cNvSpPr>
            <a:spLocks noGrp="1"/>
          </p:cNvSpPr>
          <p:nvPr>
            <p:ph type="sldNum" sz="quarter" idx="12"/>
          </p:nvPr>
        </p:nvSpPr>
        <p:spPr/>
        <p:txBody>
          <a:bodyPr/>
          <a:lstStyle/>
          <a:p>
            <a:fld id="{D57F1E4F-1CFF-5643-939E-217C01CDF565}" type="slidenum">
              <a:rPr lang="en-US" smtClean="0"/>
              <a:pPr/>
              <a:t>30</a:t>
            </a:fld>
            <a:endParaRPr lang="en-US" dirty="0"/>
          </a:p>
        </p:txBody>
      </p:sp>
    </p:spTree>
    <p:extLst>
      <p:ext uri="{BB962C8B-B14F-4D97-AF65-F5344CB8AC3E}">
        <p14:creationId xmlns:p14="http://schemas.microsoft.com/office/powerpoint/2010/main" val="19745752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96E6E-1A41-6A0E-2041-4A90DF089676}"/>
              </a:ext>
            </a:extLst>
          </p:cNvPr>
          <p:cNvSpPr>
            <a:spLocks noGrp="1"/>
          </p:cNvSpPr>
          <p:nvPr>
            <p:ph type="title"/>
          </p:nvPr>
        </p:nvSpPr>
        <p:spPr/>
        <p:txBody>
          <a:bodyPr>
            <a:noAutofit/>
          </a:bodyPr>
          <a:lstStyle/>
          <a:p>
            <a:r>
              <a:rPr lang="en-IN" sz="4800" b="1" dirty="0"/>
              <a:t>Unnamed Classes and Instance Main Methods </a:t>
            </a:r>
            <a:br>
              <a:rPr lang="en-IN" sz="4800" b="1" dirty="0"/>
            </a:br>
            <a:endParaRPr lang="en-US" sz="4800" dirty="0"/>
          </a:p>
        </p:txBody>
      </p:sp>
      <p:sp>
        <p:nvSpPr>
          <p:cNvPr id="3" name="Content Placeholder 2">
            <a:extLst>
              <a:ext uri="{FF2B5EF4-FFF2-40B4-BE49-F238E27FC236}">
                <a16:creationId xmlns:a16="http://schemas.microsoft.com/office/drawing/2014/main" id="{587DEDD5-0434-E767-CE09-433C107C3DBB}"/>
              </a:ext>
            </a:extLst>
          </p:cNvPr>
          <p:cNvSpPr>
            <a:spLocks noGrp="1"/>
          </p:cNvSpPr>
          <p:nvPr>
            <p:ph idx="1"/>
          </p:nvPr>
        </p:nvSpPr>
        <p:spPr/>
        <p:txBody>
          <a:bodyPr/>
          <a:lstStyle/>
          <a:p>
            <a:r>
              <a:rPr lang="en-IN" dirty="0"/>
              <a:t>Enhancing user experience for beginners</a:t>
            </a:r>
          </a:p>
          <a:p>
            <a:pPr marL="0" indent="0">
              <a:buNone/>
            </a:pPr>
            <a:endParaRPr lang="en-IN" dirty="0"/>
          </a:p>
          <a:p>
            <a:endParaRPr lang="en-IN" dirty="0"/>
          </a:p>
          <a:p>
            <a:endParaRPr lang="en-IN" dirty="0"/>
          </a:p>
          <a:p>
            <a:endParaRPr lang="en-IN" dirty="0"/>
          </a:p>
          <a:p>
            <a:endParaRPr lang="en-IN" dirty="0"/>
          </a:p>
          <a:p>
            <a:r>
              <a:rPr lang="en-IN" dirty="0" err="1"/>
              <a:t>javac</a:t>
            </a:r>
            <a:r>
              <a:rPr lang="en-IN" dirty="0"/>
              <a:t> </a:t>
            </a:r>
            <a:r>
              <a:rPr lang="en-IN" dirty="0" err="1"/>
              <a:t>Hi.java</a:t>
            </a:r>
            <a:endParaRPr lang="en-US" dirty="0"/>
          </a:p>
          <a:p>
            <a:r>
              <a:rPr lang="en-IN" dirty="0"/>
              <a:t>Hi</a:t>
            </a:r>
          </a:p>
          <a:p>
            <a:pPr marL="0" indent="0">
              <a:buNone/>
            </a:pPr>
            <a:endParaRPr lang="en-US" dirty="0"/>
          </a:p>
        </p:txBody>
      </p:sp>
      <p:sp>
        <p:nvSpPr>
          <p:cNvPr id="4" name="Slide Number Placeholder 3">
            <a:extLst>
              <a:ext uri="{FF2B5EF4-FFF2-40B4-BE49-F238E27FC236}">
                <a16:creationId xmlns:a16="http://schemas.microsoft.com/office/drawing/2014/main" id="{6633DC87-B351-237C-8D45-D2113E1D5A6F}"/>
              </a:ext>
            </a:extLst>
          </p:cNvPr>
          <p:cNvSpPr>
            <a:spLocks noGrp="1"/>
          </p:cNvSpPr>
          <p:nvPr>
            <p:ph type="sldNum" sz="quarter" idx="12"/>
          </p:nvPr>
        </p:nvSpPr>
        <p:spPr/>
        <p:txBody>
          <a:bodyPr/>
          <a:lstStyle/>
          <a:p>
            <a:fld id="{D57F1E4F-1CFF-5643-939E-217C01CDF565}" type="slidenum">
              <a:rPr lang="en-US" smtClean="0"/>
              <a:pPr/>
              <a:t>31</a:t>
            </a:fld>
            <a:endParaRPr lang="en-US" dirty="0"/>
          </a:p>
        </p:txBody>
      </p:sp>
      <p:pic>
        <p:nvPicPr>
          <p:cNvPr id="5" name="Picture 4">
            <a:extLst>
              <a:ext uri="{FF2B5EF4-FFF2-40B4-BE49-F238E27FC236}">
                <a16:creationId xmlns:a16="http://schemas.microsoft.com/office/drawing/2014/main" id="{F1020926-C0F6-C271-AC16-58095BD22628}"/>
              </a:ext>
            </a:extLst>
          </p:cNvPr>
          <p:cNvPicPr>
            <a:picLocks noChangeAspect="1"/>
          </p:cNvPicPr>
          <p:nvPr/>
        </p:nvPicPr>
        <p:blipFill>
          <a:blip r:embed="rId2"/>
          <a:stretch>
            <a:fillRect/>
          </a:stretch>
        </p:blipFill>
        <p:spPr>
          <a:xfrm>
            <a:off x="1745925" y="2686050"/>
            <a:ext cx="7531100" cy="1485900"/>
          </a:xfrm>
          <a:prstGeom prst="rect">
            <a:avLst/>
          </a:prstGeom>
        </p:spPr>
      </p:pic>
    </p:spTree>
    <p:extLst>
      <p:ext uri="{BB962C8B-B14F-4D97-AF65-F5344CB8AC3E}">
        <p14:creationId xmlns:p14="http://schemas.microsoft.com/office/powerpoint/2010/main" val="23388473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53A20-415D-6C5F-AE57-048019513570}"/>
              </a:ext>
            </a:extLst>
          </p:cNvPr>
          <p:cNvSpPr>
            <a:spLocks noGrp="1"/>
          </p:cNvSpPr>
          <p:nvPr>
            <p:ph type="title"/>
          </p:nvPr>
        </p:nvSpPr>
        <p:spPr/>
        <p:txBody>
          <a:bodyPr/>
          <a:lstStyle/>
          <a:p>
            <a:r>
              <a:rPr lang="en-US" dirty="0"/>
              <a:t>Motivation for multifile Motivation for source</a:t>
            </a:r>
          </a:p>
        </p:txBody>
      </p:sp>
      <p:sp>
        <p:nvSpPr>
          <p:cNvPr id="4" name="Slide Number Placeholder 3">
            <a:extLst>
              <a:ext uri="{FF2B5EF4-FFF2-40B4-BE49-F238E27FC236}">
                <a16:creationId xmlns:a16="http://schemas.microsoft.com/office/drawing/2014/main" id="{F46DAEFB-5546-3C06-2B01-2151AA0EB870}"/>
              </a:ext>
            </a:extLst>
          </p:cNvPr>
          <p:cNvSpPr>
            <a:spLocks noGrp="1"/>
          </p:cNvSpPr>
          <p:nvPr>
            <p:ph type="sldNum" sz="quarter" idx="12"/>
          </p:nvPr>
        </p:nvSpPr>
        <p:spPr/>
        <p:txBody>
          <a:bodyPr/>
          <a:lstStyle/>
          <a:p>
            <a:fld id="{D57F1E4F-1CFF-5643-939E-217C01CDF565}" type="slidenum">
              <a:rPr lang="en-US" smtClean="0"/>
              <a:pPr/>
              <a:t>32</a:t>
            </a:fld>
            <a:endParaRPr lang="en-US" dirty="0"/>
          </a:p>
        </p:txBody>
      </p:sp>
      <p:graphicFrame>
        <p:nvGraphicFramePr>
          <p:cNvPr id="5" name="Content Placeholder 2">
            <a:extLst>
              <a:ext uri="{FF2B5EF4-FFF2-40B4-BE49-F238E27FC236}">
                <a16:creationId xmlns:a16="http://schemas.microsoft.com/office/drawing/2014/main" id="{46212369-AEB1-C1E0-4F93-0B37B30D44B8}"/>
              </a:ext>
            </a:extLst>
          </p:cNvPr>
          <p:cNvGraphicFramePr>
            <a:graphicFrameLocks noGrp="1"/>
          </p:cNvGraphicFramePr>
          <p:nvPr>
            <p:ph idx="1"/>
          </p:nvPr>
        </p:nvGraphicFramePr>
        <p:xfrm>
          <a:off x="1069975" y="2120900"/>
          <a:ext cx="10058400" cy="4051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88209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531AA-7A57-0F0E-787F-AE723124F547}"/>
              </a:ext>
            </a:extLst>
          </p:cNvPr>
          <p:cNvSpPr>
            <a:spLocks noGrp="1"/>
          </p:cNvSpPr>
          <p:nvPr>
            <p:ph type="title"/>
          </p:nvPr>
        </p:nvSpPr>
        <p:spPr/>
        <p:txBody>
          <a:bodyPr>
            <a:noAutofit/>
          </a:bodyPr>
          <a:lstStyle/>
          <a:p>
            <a:r>
              <a:rPr lang="en-IN" sz="4800" b="1" dirty="0"/>
              <a:t>Launch Multi-File Source-Code(J22) Program</a:t>
            </a:r>
            <a:br>
              <a:rPr lang="en-IN" sz="4800" b="1" dirty="0"/>
            </a:br>
            <a:endParaRPr lang="en-US" sz="4800" dirty="0"/>
          </a:p>
        </p:txBody>
      </p:sp>
      <p:sp>
        <p:nvSpPr>
          <p:cNvPr id="4" name="Slide Number Placeholder 3">
            <a:extLst>
              <a:ext uri="{FF2B5EF4-FFF2-40B4-BE49-F238E27FC236}">
                <a16:creationId xmlns:a16="http://schemas.microsoft.com/office/drawing/2014/main" id="{F6F28400-1E1B-E8F5-A900-F5196EB6B766}"/>
              </a:ext>
            </a:extLst>
          </p:cNvPr>
          <p:cNvSpPr>
            <a:spLocks noGrp="1"/>
          </p:cNvSpPr>
          <p:nvPr>
            <p:ph type="sldNum" sz="quarter" idx="12"/>
          </p:nvPr>
        </p:nvSpPr>
        <p:spPr/>
        <p:txBody>
          <a:bodyPr/>
          <a:lstStyle/>
          <a:p>
            <a:fld id="{D57F1E4F-1CFF-5643-939E-217C01CDF565}" type="slidenum">
              <a:rPr lang="en-US" smtClean="0"/>
              <a:pPr/>
              <a:t>33</a:t>
            </a:fld>
            <a:endParaRPr lang="en-US" dirty="0"/>
          </a:p>
        </p:txBody>
      </p:sp>
      <p:pic>
        <p:nvPicPr>
          <p:cNvPr id="7" name="Picture 6">
            <a:extLst>
              <a:ext uri="{FF2B5EF4-FFF2-40B4-BE49-F238E27FC236}">
                <a16:creationId xmlns:a16="http://schemas.microsoft.com/office/drawing/2014/main" id="{A8E09FEB-731F-5B6E-4496-3CE6F07F0281}"/>
              </a:ext>
            </a:extLst>
          </p:cNvPr>
          <p:cNvPicPr>
            <a:picLocks noChangeAspect="1"/>
          </p:cNvPicPr>
          <p:nvPr/>
        </p:nvPicPr>
        <p:blipFill>
          <a:blip r:embed="rId2"/>
          <a:stretch>
            <a:fillRect/>
          </a:stretch>
        </p:blipFill>
        <p:spPr>
          <a:xfrm>
            <a:off x="2383971" y="1620139"/>
            <a:ext cx="7772400" cy="5017770"/>
          </a:xfrm>
          <a:prstGeom prst="rect">
            <a:avLst/>
          </a:prstGeom>
        </p:spPr>
      </p:pic>
    </p:spTree>
    <p:extLst>
      <p:ext uri="{BB962C8B-B14F-4D97-AF65-F5344CB8AC3E}">
        <p14:creationId xmlns:p14="http://schemas.microsoft.com/office/powerpoint/2010/main" val="17283790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EF988-9B86-04E9-A768-D162ECD5A2D1}"/>
              </a:ext>
            </a:extLst>
          </p:cNvPr>
          <p:cNvSpPr>
            <a:spLocks noGrp="1"/>
          </p:cNvSpPr>
          <p:nvPr>
            <p:ph type="title"/>
          </p:nvPr>
        </p:nvSpPr>
        <p:spPr>
          <a:xfrm>
            <a:off x="1063752" y="350817"/>
            <a:ext cx="10058400" cy="1609344"/>
          </a:xfrm>
        </p:spPr>
        <p:txBody>
          <a:bodyPr/>
          <a:lstStyle/>
          <a:p>
            <a:r>
              <a:rPr lang="en-US" dirty="0"/>
              <a:t>What is coming Java 26 and beyond</a:t>
            </a:r>
          </a:p>
        </p:txBody>
      </p:sp>
      <p:sp>
        <p:nvSpPr>
          <p:cNvPr id="3" name="Content Placeholder 2">
            <a:extLst>
              <a:ext uri="{FF2B5EF4-FFF2-40B4-BE49-F238E27FC236}">
                <a16:creationId xmlns:a16="http://schemas.microsoft.com/office/drawing/2014/main" id="{A45B7F27-3332-455C-DD9A-520F4FCB8F5E}"/>
              </a:ext>
            </a:extLst>
          </p:cNvPr>
          <p:cNvSpPr>
            <a:spLocks noGrp="1"/>
          </p:cNvSpPr>
          <p:nvPr>
            <p:ph idx="1"/>
          </p:nvPr>
        </p:nvSpPr>
        <p:spPr>
          <a:xfrm>
            <a:off x="1063752" y="1753418"/>
            <a:ext cx="10058400" cy="4050792"/>
          </a:xfrm>
        </p:spPr>
        <p:txBody>
          <a:bodyPr>
            <a:noAutofit/>
          </a:bodyPr>
          <a:lstStyle/>
          <a:p>
            <a:pPr eaLnBrk="0" fontAlgn="base" hangingPunct="0">
              <a:lnSpc>
                <a:spcPct val="100000"/>
              </a:lnSpc>
              <a:spcBef>
                <a:spcPct val="0"/>
              </a:spcBef>
              <a:spcAft>
                <a:spcPct val="0"/>
              </a:spcAft>
            </a:pPr>
            <a:r>
              <a:rPr lang="en-US" altLang="en-US" b="1" dirty="0">
                <a:latin typeface="Arial" panose="020B0604020202020204" pitchFamily="34" charset="0"/>
              </a:rPr>
              <a:t>JEP 504: Remove the Applet API</a:t>
            </a:r>
          </a:p>
          <a:p>
            <a:pPr marL="0" lvl="0" indent="0" eaLnBrk="0" fontAlgn="base" hangingPunct="0">
              <a:lnSpc>
                <a:spcPct val="100000"/>
              </a:lnSpc>
              <a:spcBef>
                <a:spcPct val="0"/>
              </a:spcBef>
              <a:spcAft>
                <a:spcPct val="0"/>
              </a:spcAft>
              <a:buNone/>
            </a:pPr>
            <a:r>
              <a:rPr lang="en-US" altLang="en-US" dirty="0">
                <a:latin typeface="Arial" panose="020B0604020202020204" pitchFamily="34" charset="0"/>
              </a:rPr>
              <a:t>The Applet API is being removed because it is obsolete; modern web browsers no longer support Java applets, and the Java Development Kit itself no longer includes the tools or runtime support to run applets.</a:t>
            </a:r>
          </a:p>
          <a:p>
            <a:pPr marL="0" lvl="0" indent="0" eaLnBrk="0" fontAlgn="base" hangingPunct="0">
              <a:lnSpc>
                <a:spcPct val="100000"/>
              </a:lnSpc>
              <a:spcBef>
                <a:spcPct val="0"/>
              </a:spcBef>
              <a:spcAft>
                <a:spcPct val="0"/>
              </a:spcAft>
              <a:buFontTx/>
              <a:buChar char="•"/>
            </a:pPr>
            <a:endParaRPr lang="en-US" altLang="en-US" dirty="0">
              <a:latin typeface="Arial" panose="020B0604020202020204" pitchFamily="34" charset="0"/>
            </a:endParaRPr>
          </a:p>
          <a:p>
            <a:pPr eaLnBrk="0" fontAlgn="base" hangingPunct="0">
              <a:lnSpc>
                <a:spcPct val="100000"/>
              </a:lnSpc>
              <a:spcBef>
                <a:spcPct val="0"/>
              </a:spcBef>
              <a:spcAft>
                <a:spcPct val="0"/>
              </a:spcAft>
            </a:pPr>
            <a:r>
              <a:rPr lang="en-US" altLang="en-US" b="1" dirty="0">
                <a:latin typeface="Arial" panose="020B0604020202020204" pitchFamily="34" charset="0"/>
              </a:rPr>
              <a:t>JEP 517: HTTP/3 for the HTTP Client API</a:t>
            </a:r>
          </a:p>
          <a:p>
            <a:pPr marL="0" lvl="0" indent="0" eaLnBrk="0" fontAlgn="base" hangingPunct="0">
              <a:lnSpc>
                <a:spcPct val="100000"/>
              </a:lnSpc>
              <a:spcBef>
                <a:spcPct val="0"/>
              </a:spcBef>
              <a:spcAft>
                <a:spcPct val="0"/>
              </a:spcAft>
              <a:buNone/>
            </a:pPr>
            <a:r>
              <a:rPr lang="en-US" altLang="en-US" dirty="0">
                <a:latin typeface="Arial" panose="020B0604020202020204" pitchFamily="34" charset="0"/>
              </a:rPr>
              <a:t>This feature updates the HTTP Client API to support the newer HTTP/3 protocol. </a:t>
            </a:r>
          </a:p>
          <a:p>
            <a:pPr marL="0" lvl="0" indent="0" eaLnBrk="0" fontAlgn="base" hangingPunct="0">
              <a:lnSpc>
                <a:spcPct val="100000"/>
              </a:lnSpc>
              <a:spcBef>
                <a:spcPct val="0"/>
              </a:spcBef>
              <a:spcAft>
                <a:spcPct val="0"/>
              </a:spcAft>
              <a:buNone/>
            </a:pPr>
            <a:endParaRPr lang="en-US" altLang="en-US" dirty="0">
              <a:latin typeface="Arial" panose="020B0604020202020204" pitchFamily="34" charset="0"/>
            </a:endParaRPr>
          </a:p>
          <a:p>
            <a:pPr eaLnBrk="0" fontAlgn="base" hangingPunct="0">
              <a:lnSpc>
                <a:spcPct val="100000"/>
              </a:lnSpc>
              <a:spcBef>
                <a:spcPct val="0"/>
              </a:spcBef>
              <a:spcAft>
                <a:spcPct val="0"/>
              </a:spcAft>
            </a:pPr>
            <a:r>
              <a:rPr lang="en-US" altLang="en-US" b="1" dirty="0">
                <a:latin typeface="Arial" panose="020B0604020202020204" pitchFamily="34" charset="0"/>
              </a:rPr>
              <a:t>JEP 522: G1 GC: Improve Throughput by Reducing Synchronization</a:t>
            </a:r>
          </a:p>
          <a:p>
            <a:pPr marL="0" lvl="0" indent="0" eaLnBrk="0" fontAlgn="base" hangingPunct="0">
              <a:lnSpc>
                <a:spcPct val="100000"/>
              </a:lnSpc>
              <a:spcBef>
                <a:spcPct val="0"/>
              </a:spcBef>
              <a:spcAft>
                <a:spcPct val="0"/>
              </a:spcAft>
              <a:buNone/>
            </a:pPr>
            <a:r>
              <a:rPr lang="en-US" altLang="en-US" dirty="0">
                <a:latin typeface="Arial" panose="020B0604020202020204" pitchFamily="34" charset="0"/>
              </a:rPr>
              <a:t>This enhancement optimizes the G1 Garbage Collector by reducing synchronization overhead between application threads and GC threads.</a:t>
            </a:r>
          </a:p>
          <a:p>
            <a:pPr marL="0" lvl="0" indent="0" eaLnBrk="0" fontAlgn="base" hangingPunct="0">
              <a:lnSpc>
                <a:spcPct val="100000"/>
              </a:lnSpc>
              <a:spcBef>
                <a:spcPct val="0"/>
              </a:spcBef>
              <a:spcAft>
                <a:spcPct val="0"/>
              </a:spcAft>
              <a:buNone/>
            </a:pP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dirty="0">
                <a:latin typeface="Arial" panose="020B0604020202020204" pitchFamily="34" charset="0"/>
              </a:rPr>
              <a:t>AND MANY MORE ( not announced yet)</a:t>
            </a:r>
          </a:p>
          <a:p>
            <a:pPr marL="0" lvl="0" indent="0" eaLnBrk="0" fontAlgn="base" hangingPunct="0">
              <a:lnSpc>
                <a:spcPct val="100000"/>
              </a:lnSpc>
              <a:spcBef>
                <a:spcPct val="0"/>
              </a:spcBef>
              <a:spcAft>
                <a:spcPct val="0"/>
              </a:spcAft>
              <a:buFontTx/>
              <a:buChar char="•"/>
            </a:pP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FontTx/>
              <a:buChar char="•"/>
            </a:pP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FontTx/>
              <a:buChar char="•"/>
            </a:pP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FontTx/>
              <a:buChar char="•"/>
            </a:pPr>
            <a:endParaRPr lang="en-US" altLang="en-US" dirty="0">
              <a:latin typeface="Arial" panose="020B0604020202020204" pitchFamily="34" charset="0"/>
            </a:endParaRPr>
          </a:p>
          <a:p>
            <a:endParaRPr lang="en-US" dirty="0"/>
          </a:p>
          <a:p>
            <a:endParaRPr lang="en-US" dirty="0"/>
          </a:p>
        </p:txBody>
      </p:sp>
      <p:sp>
        <p:nvSpPr>
          <p:cNvPr id="4" name="Slide Number Placeholder 3">
            <a:extLst>
              <a:ext uri="{FF2B5EF4-FFF2-40B4-BE49-F238E27FC236}">
                <a16:creationId xmlns:a16="http://schemas.microsoft.com/office/drawing/2014/main" id="{D4A17C3D-E1E2-0948-0072-98E3FB5850BC}"/>
              </a:ext>
            </a:extLst>
          </p:cNvPr>
          <p:cNvSpPr>
            <a:spLocks noGrp="1"/>
          </p:cNvSpPr>
          <p:nvPr>
            <p:ph type="sldNum" sz="quarter" idx="12"/>
          </p:nvPr>
        </p:nvSpPr>
        <p:spPr/>
        <p:txBody>
          <a:bodyPr/>
          <a:lstStyle/>
          <a:p>
            <a:fld id="{D57F1E4F-1CFF-5643-939E-217C01CDF565}" type="slidenum">
              <a:rPr lang="en-US" smtClean="0"/>
              <a:pPr/>
              <a:t>34</a:t>
            </a:fld>
            <a:endParaRPr lang="en-US" dirty="0"/>
          </a:p>
        </p:txBody>
      </p:sp>
    </p:spTree>
    <p:extLst>
      <p:ext uri="{BB962C8B-B14F-4D97-AF65-F5344CB8AC3E}">
        <p14:creationId xmlns:p14="http://schemas.microsoft.com/office/powerpoint/2010/main" val="40455850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E76FE-C4EC-B32A-F400-F06E21ABF78D}"/>
              </a:ext>
            </a:extLst>
          </p:cNvPr>
          <p:cNvSpPr>
            <a:spLocks noGrp="1"/>
          </p:cNvSpPr>
          <p:nvPr>
            <p:ph type="title"/>
          </p:nvPr>
        </p:nvSpPr>
        <p:spPr/>
        <p:txBody>
          <a:bodyPr/>
          <a:lstStyle/>
          <a:p>
            <a:r>
              <a:rPr lang="en-US" dirty="0"/>
              <a:t>Road Ahead</a:t>
            </a:r>
          </a:p>
        </p:txBody>
      </p:sp>
      <p:sp>
        <p:nvSpPr>
          <p:cNvPr id="3" name="Content Placeholder 2">
            <a:extLst>
              <a:ext uri="{FF2B5EF4-FFF2-40B4-BE49-F238E27FC236}">
                <a16:creationId xmlns:a16="http://schemas.microsoft.com/office/drawing/2014/main" id="{C67CF4AF-A749-F3BE-5CED-221B07708C19}"/>
              </a:ext>
            </a:extLst>
          </p:cNvPr>
          <p:cNvSpPr>
            <a:spLocks noGrp="1"/>
          </p:cNvSpPr>
          <p:nvPr>
            <p:ph idx="1"/>
          </p:nvPr>
        </p:nvSpPr>
        <p:spPr/>
        <p:txBody>
          <a:bodyPr/>
          <a:lstStyle/>
          <a:p>
            <a:pPr marL="0" indent="0">
              <a:buNone/>
            </a:pPr>
            <a:endParaRPr lang="en-IN" b="1" dirty="0"/>
          </a:p>
          <a:p>
            <a:r>
              <a:rPr lang="en-IN" dirty="0"/>
              <a:t>Preview features introduced in recent Java releases are set to become permanent, solidifying the innovations in syntax and performance.</a:t>
            </a:r>
          </a:p>
          <a:p>
            <a:endParaRPr lang="en-IN" dirty="0"/>
          </a:p>
          <a:p>
            <a:r>
              <a:rPr lang="en-IN" dirty="0"/>
              <a:t>Focus on improving the developer experience with simpler, more concise syntax</a:t>
            </a:r>
          </a:p>
          <a:p>
            <a:pPr marL="0" indent="0">
              <a:buNone/>
            </a:pPr>
            <a:br>
              <a:rPr lang="en-IN" dirty="0"/>
            </a:br>
            <a:endParaRPr lang="en-IN" dirty="0"/>
          </a:p>
          <a:p>
            <a:endParaRPr lang="en-US" dirty="0"/>
          </a:p>
        </p:txBody>
      </p:sp>
      <p:sp>
        <p:nvSpPr>
          <p:cNvPr id="4" name="Slide Number Placeholder 3">
            <a:extLst>
              <a:ext uri="{FF2B5EF4-FFF2-40B4-BE49-F238E27FC236}">
                <a16:creationId xmlns:a16="http://schemas.microsoft.com/office/drawing/2014/main" id="{77BBE50D-F51F-011B-88F0-901BCCF348BA}"/>
              </a:ext>
            </a:extLst>
          </p:cNvPr>
          <p:cNvSpPr>
            <a:spLocks noGrp="1"/>
          </p:cNvSpPr>
          <p:nvPr>
            <p:ph type="sldNum" sz="quarter" idx="12"/>
          </p:nvPr>
        </p:nvSpPr>
        <p:spPr/>
        <p:txBody>
          <a:bodyPr/>
          <a:lstStyle/>
          <a:p>
            <a:fld id="{D57F1E4F-1CFF-5643-939E-217C01CDF565}" type="slidenum">
              <a:rPr lang="en-US" smtClean="0"/>
              <a:pPr/>
              <a:t>35</a:t>
            </a:fld>
            <a:endParaRPr lang="en-US" dirty="0"/>
          </a:p>
        </p:txBody>
      </p:sp>
    </p:spTree>
    <p:extLst>
      <p:ext uri="{BB962C8B-B14F-4D97-AF65-F5344CB8AC3E}">
        <p14:creationId xmlns:p14="http://schemas.microsoft.com/office/powerpoint/2010/main" val="42853668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B66DFDB-9679-C27F-8336-363EA7749315}"/>
              </a:ext>
            </a:extLst>
          </p:cNvPr>
          <p:cNvSpPr>
            <a:spLocks noGrp="1"/>
          </p:cNvSpPr>
          <p:nvPr>
            <p:ph type="sldNum" sz="quarter" idx="12"/>
          </p:nvPr>
        </p:nvSpPr>
        <p:spPr/>
        <p:txBody>
          <a:bodyPr/>
          <a:lstStyle/>
          <a:p>
            <a:fld id="{D57F1E4F-1CFF-5643-939E-217C01CDF565}" type="slidenum">
              <a:rPr lang="en-US" smtClean="0"/>
              <a:pPr/>
              <a:t>36</a:t>
            </a:fld>
            <a:endParaRPr lang="en-US" dirty="0"/>
          </a:p>
        </p:txBody>
      </p:sp>
      <p:sp>
        <p:nvSpPr>
          <p:cNvPr id="4" name="TextBox 3">
            <a:extLst>
              <a:ext uri="{FF2B5EF4-FFF2-40B4-BE49-F238E27FC236}">
                <a16:creationId xmlns:a16="http://schemas.microsoft.com/office/drawing/2014/main" id="{0588B6FE-72BE-4F02-9284-E35C08E11EE0}"/>
              </a:ext>
            </a:extLst>
          </p:cNvPr>
          <p:cNvSpPr txBox="1"/>
          <p:nvPr/>
        </p:nvSpPr>
        <p:spPr>
          <a:xfrm>
            <a:off x="4337823" y="2910467"/>
            <a:ext cx="4906537" cy="830997"/>
          </a:xfrm>
          <a:prstGeom prst="rect">
            <a:avLst/>
          </a:prstGeom>
          <a:noFill/>
        </p:spPr>
        <p:txBody>
          <a:bodyPr wrap="square" rtlCol="0">
            <a:spAutoFit/>
          </a:bodyPr>
          <a:lstStyle/>
          <a:p>
            <a:r>
              <a:rPr lang="en-US" sz="4800" b="1" dirty="0"/>
              <a:t>Thank you</a:t>
            </a:r>
          </a:p>
        </p:txBody>
      </p:sp>
    </p:spTree>
    <p:extLst>
      <p:ext uri="{BB962C8B-B14F-4D97-AF65-F5344CB8AC3E}">
        <p14:creationId xmlns:p14="http://schemas.microsoft.com/office/powerpoint/2010/main" val="250979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Wood Type</Template>
  <TotalTime>29764</TotalTime>
  <Words>1785</Words>
  <Application>Microsoft Macintosh PowerPoint</Application>
  <PresentationFormat>Widescreen</PresentationFormat>
  <Paragraphs>258</Paragraphs>
  <Slides>36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36</vt:i4>
      </vt:variant>
    </vt:vector>
  </HeadingPairs>
  <TitlesOfParts>
    <vt:vector size="47" baseType="lpstr">
      <vt:lpstr>Abadi</vt:lpstr>
      <vt:lpstr>Aptos</vt:lpstr>
      <vt:lpstr>Arial</vt:lpstr>
      <vt:lpstr>Calibri</vt:lpstr>
      <vt:lpstr>Consolas</vt:lpstr>
      <vt:lpstr>inherit</vt:lpstr>
      <vt:lpstr>Rockwell</vt:lpstr>
      <vt:lpstr>Rockwell Condensed</vt:lpstr>
      <vt:lpstr>Rockwell Extra Bold</vt:lpstr>
      <vt:lpstr>Wingdings</vt:lpstr>
      <vt:lpstr>Wood Type</vt:lpstr>
      <vt:lpstr>Write Less, Do More</vt:lpstr>
      <vt:lpstr>TOPICS</vt:lpstr>
      <vt:lpstr>github repo </vt:lpstr>
      <vt:lpstr>Significance of Modern Java Adoption</vt:lpstr>
      <vt:lpstr>var – Local Variable Type Inference </vt:lpstr>
      <vt:lpstr>New String methods</vt:lpstr>
      <vt:lpstr>Compact Number Formatting </vt:lpstr>
      <vt:lpstr>Text blocks</vt:lpstr>
      <vt:lpstr>Records</vt:lpstr>
      <vt:lpstr>Pattern matching  </vt:lpstr>
      <vt:lpstr>Pattern matching with instanceOf Operator</vt:lpstr>
      <vt:lpstr>Pattern matching with primitive data types</vt:lpstr>
      <vt:lpstr>Pattern matching in records </vt:lpstr>
      <vt:lpstr>Pattern matching in records </vt:lpstr>
      <vt:lpstr>Enhanced switch Expressions </vt:lpstr>
      <vt:lpstr>Pattern Matching for switch  </vt:lpstr>
      <vt:lpstr>Sealed Types </vt:lpstr>
      <vt:lpstr>Virtual thread</vt:lpstr>
      <vt:lpstr>Quick Glance - Traditional vs Virtual Threads</vt:lpstr>
      <vt:lpstr>Motivation for class file API</vt:lpstr>
      <vt:lpstr>Example</vt:lpstr>
      <vt:lpstr>Module Import Declarations(J23-J25) </vt:lpstr>
      <vt:lpstr>Stream Gatherers  </vt:lpstr>
      <vt:lpstr>Stream Gatherers  </vt:lpstr>
      <vt:lpstr>Scoped values </vt:lpstr>
      <vt:lpstr>Flexible constructor bodies</vt:lpstr>
      <vt:lpstr>Motivation for Sequenced collection(J21)– lack of consistent way </vt:lpstr>
      <vt:lpstr>Sequenced Collections </vt:lpstr>
      <vt:lpstr>Methods in the new interface</vt:lpstr>
      <vt:lpstr>Motivation for unnamed classes(J21)</vt:lpstr>
      <vt:lpstr>Unnamed Classes and Instance Main Methods  </vt:lpstr>
      <vt:lpstr>Motivation for multifile Motivation for source</vt:lpstr>
      <vt:lpstr>Launch Multi-File Source-Code(J22) Program </vt:lpstr>
      <vt:lpstr>What is coming Java 26 and beyond</vt:lpstr>
      <vt:lpstr>Road Ahead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Sumanth SRIVARMA</dc:creator>
  <cp:lastModifiedBy>Sumanth SRIVARMA</cp:lastModifiedBy>
  <cp:revision>47</cp:revision>
  <cp:lastPrinted>2025-11-08T10:24:42Z</cp:lastPrinted>
  <dcterms:created xsi:type="dcterms:W3CDTF">2025-07-09T11:19:47Z</dcterms:created>
  <dcterms:modified xsi:type="dcterms:W3CDTF">2026-04-30T11:23:26Z</dcterms:modified>
</cp:coreProperties>
</file>